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7293c95dc54a52" /><Relationship Type="http://schemas.openxmlformats.org/officeDocument/2006/relationships/extended-properties" Target="/docProps/app.xml" Id="R3a17580bc28f41f8" /><Relationship Type="http://schemas.openxmlformats.org/officeDocument/2006/relationships/officeDocument" Target="/ppt/presentation.xml" Id="R7ffd4517f6bb4efa" /></Relationships>
</file>

<file path=ppt/presentation.xml><?xml version="1.0" encoding="utf-8"?>
<p:presentation xmlns:p="http://schemas.openxmlformats.org/presentationml/2006/main">
  <p:sldMasterIdLst>
    <p:sldMasterId xmlns:r="http://schemas.openxmlformats.org/officeDocument/2006/relationships" id="2147483648" r:id="R3f2699608eba4a5b"/>
  </p:sldMasterIdLst>
  <p:notesMasterIdLst>
    <p:notesMasterId xmlns:r="http://schemas.openxmlformats.org/officeDocument/2006/relationships" r:id="Rf6ae8abcf2a642c8"/>
  </p:notesMasterIdLst>
  <p:sldIdLst>
    <p:sldId xmlns:r="http://schemas.openxmlformats.org/officeDocument/2006/relationships" id="256" r:id="R9feca22993654a3e"/>
    <p:sldId xmlns:r="http://schemas.openxmlformats.org/officeDocument/2006/relationships" id="257" r:id="Rdd929dc2179c4808"/>
    <p:sldId xmlns:r="http://schemas.openxmlformats.org/officeDocument/2006/relationships" id="258" r:id="Ra8fe4d9e2dac42ff"/>
    <p:sldId xmlns:r="http://schemas.openxmlformats.org/officeDocument/2006/relationships" id="259" r:id="R484755ae3c384732"/>
    <p:sldId xmlns:r="http://schemas.openxmlformats.org/officeDocument/2006/relationships" id="260" r:id="R026b9ad6fd7a4b33"/>
    <p:sldId xmlns:r="http://schemas.openxmlformats.org/officeDocument/2006/relationships" id="261" r:id="Rfa7610c8ef7b4a99"/>
    <p:sldId xmlns:r="http://schemas.openxmlformats.org/officeDocument/2006/relationships" id="262" r:id="Rf6652901688145fb"/>
    <p:sldId xmlns:r="http://schemas.openxmlformats.org/officeDocument/2006/relationships" id="263" r:id="R3175d4ca17fa472f"/>
    <p:sldId xmlns:r="http://schemas.openxmlformats.org/officeDocument/2006/relationships" id="264" r:id="R570998c9d9b147a7"/>
    <p:sldId xmlns:r="http://schemas.openxmlformats.org/officeDocument/2006/relationships" id="265" r:id="R1f2c0a6bee934dc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3f2699608eba4a5b" /><Relationship Type="http://schemas.openxmlformats.org/officeDocument/2006/relationships/theme" Target="/ppt/theme/theme1.xml" Id="Rc574b22fd6854383" /><Relationship Type="http://schemas.openxmlformats.org/officeDocument/2006/relationships/notesMaster" Target="/ppt/notesMasters/notesMaster1.xml" Id="Rf6ae8abcf2a642c8" /><Relationship Type="http://schemas.openxmlformats.org/officeDocument/2006/relationships/presProps" Target="/ppt/presProps.xml" Id="Rc7ca58717f8b41da" /><Relationship Type="http://schemas.openxmlformats.org/officeDocument/2006/relationships/viewProps" Target="/ppt/viewProps.xml" Id="Ra8248bee61d84c1d" /><Relationship Type="http://schemas.openxmlformats.org/officeDocument/2006/relationships/tableStyles" Target="/ppt/tableStyles.xml" Id="Rbfefb158de32463a" /><Relationship Type="http://schemas.openxmlformats.org/officeDocument/2006/relationships/slide" Target="/ppt/slides/slide1.xml" Id="R9feca22993654a3e" /><Relationship Type="http://schemas.openxmlformats.org/officeDocument/2006/relationships/slide" Target="/ppt/slides/slide2.xml" Id="Rdd929dc2179c4808" /><Relationship Type="http://schemas.openxmlformats.org/officeDocument/2006/relationships/slide" Target="/ppt/slides/slide3.xml" Id="Ra8fe4d9e2dac42ff" /><Relationship Type="http://schemas.openxmlformats.org/officeDocument/2006/relationships/slide" Target="/ppt/slides/slide4.xml" Id="R484755ae3c384732" /><Relationship Type="http://schemas.openxmlformats.org/officeDocument/2006/relationships/slide" Target="/ppt/slides/slide5.xml" Id="R026b9ad6fd7a4b33" /><Relationship Type="http://schemas.openxmlformats.org/officeDocument/2006/relationships/slide" Target="/ppt/slides/slide6.xml" Id="Rfa7610c8ef7b4a99" /><Relationship Type="http://schemas.openxmlformats.org/officeDocument/2006/relationships/slide" Target="/ppt/slides/slide7.xml" Id="Rf6652901688145fb" /><Relationship Type="http://schemas.openxmlformats.org/officeDocument/2006/relationships/slide" Target="/ppt/slides/slide8.xml" Id="R3175d4ca17fa472f" /><Relationship Type="http://schemas.openxmlformats.org/officeDocument/2006/relationships/slide" Target="/ppt/slides/slide9.xml" Id="R570998c9d9b147a7" /><Relationship Type="http://schemas.openxmlformats.org/officeDocument/2006/relationships/slide" Target="/ppt/slides/slide10.xml" Id="R1f2c0a6bee934d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5b0a90fc6d3e4d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358504dc2c497c" /><Relationship Type="http://schemas.openxmlformats.org/officeDocument/2006/relationships/notesMaster" Target="/ppt/notesMasters/notesMaster1.xml" Id="Rbbddecc0911e48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afd36d84a846e1" /><Relationship Type="http://schemas.openxmlformats.org/officeDocument/2006/relationships/notesMaster" Target="/ppt/notesMasters/notesMaster1.xml" Id="R3da4ccf2c51a4d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cc7ec900164277" /><Relationship Type="http://schemas.openxmlformats.org/officeDocument/2006/relationships/notesMaster" Target="/ppt/notesMasters/notesMaster1.xml" Id="R6d26f0b3c4ca44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450de555294f86" /><Relationship Type="http://schemas.openxmlformats.org/officeDocument/2006/relationships/notesMaster" Target="/ppt/notesMasters/notesMaster1.xml" Id="R6fb7639e1bdb4a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0e0b64067e42bd" /><Relationship Type="http://schemas.openxmlformats.org/officeDocument/2006/relationships/notesMaster" Target="/ppt/notesMasters/notesMaster1.xml" Id="Rc28b9af8ec824e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eb8f4c00454ca7" /><Relationship Type="http://schemas.openxmlformats.org/officeDocument/2006/relationships/notesMaster" Target="/ppt/notesMasters/notesMaster1.xml" Id="R5c076e8056a946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3138859d104747" /><Relationship Type="http://schemas.openxmlformats.org/officeDocument/2006/relationships/notesMaster" Target="/ppt/notesMasters/notesMaster1.xml" Id="R8e5d4cd6b7bc43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f653c49a25c411d" /><Relationship Type="http://schemas.openxmlformats.org/officeDocument/2006/relationships/notesMaster" Target="/ppt/notesMasters/notesMaster1.xml" Id="R797eaa22832f4a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0d2a394e2c4941" /><Relationship Type="http://schemas.openxmlformats.org/officeDocument/2006/relationships/notesMaster" Target="/ppt/notesMasters/notesMaster1.xml" Id="Rfa07144d0e0e40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cf379d8a2354078" /><Relationship Type="http://schemas.openxmlformats.org/officeDocument/2006/relationships/notesMaster" Target="/ppt/notesMasters/notesMaster1.xml" Id="R8ef8eb04db8747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Dobrý den, jmenuji se Jakub Mitrega a budu představovat zápočtový projekt na téma fuzzy logika a fuzzy věkové rozdělení.</a:t>
            </a:r>
          </a:p>
          <a:p xmlns:a="http://schemas.openxmlformats.org/drawingml/2006/main">
            <a:r>
              <a:t/>
            </a:r>
          </a:p>
          <a:p xmlns:a="http://schemas.openxmlformats.org/drawingml/2006/main">
            <a:r>
              <a:t>Vybral jsem si korespondenční úkol, který se zabývá popisem běžných věkových pojmů pomocí fuzzy množin. V prezentaci krátce ukážu zadání, princip řešení, navržené věkové kategorie, graf a jednoduchou aplikaci, na které je vidět výsledek.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Tady je vybraný korespondenční úkol ze skript. Zadání požaduje popsat základní věkové rozdělení pomocí fuzzy množin. Konkrétně se pracuje s kategoriemi malí, mladí, střední, starší, staří a nejstarší.</a:t>
            </a:r>
          </a:p>
          <a:p xmlns:a="http://schemas.openxmlformats.org/drawingml/2006/main">
            <a:r>
              <a:t/>
            </a:r>
          </a:p>
          <a:p xmlns:a="http://schemas.openxmlformats.org/drawingml/2006/main">
            <a:r>
              <a:t>Důležité je, že výsledek nemá být jen slovní popis. Zadání chce, aby byly věkové kategorie zpracované tabulkou i graficky. Proto jsem pro každou kategorii navrhl číselné hranice, podle kterých se dá vypočítat příslušnost konkrétního věku.</a:t>
            </a:r>
          </a:p>
          <a:p xmlns:a="http://schemas.openxmlformats.org/drawingml/2006/main">
            <a:r>
              <a:t/>
            </a:r>
          </a:p>
          <a:p xmlns:a="http://schemas.openxmlformats.org/drawingml/2006/main">
            <a:r>
              <a:t>Tyto hranice nejsou jediná možná varianta. Jsou to moje navržené hodnoty pro běžné vnímání věku. Cílem je ukázat, že vágní slovní kategorie se dají převést do přehledného modelu, se kterým jde dál pracovat.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 tomto slidu vysvětluji, proč se pro věkové kategorie hodí fuzzy množiny. V klasickém rozdělení bych musel zvolit pevnou hranici, například do určitého věku mladý a od dalšího věku už ne. U věku to ale působí nepřirozeně.</a:t>
            </a:r>
          </a:p>
          <a:p xmlns:a="http://schemas.openxmlformats.org/drawingml/2006/main">
            <a:r>
              <a:t/>
            </a:r>
          </a:p>
          <a:p xmlns:a="http://schemas.openxmlformats.org/drawingml/2006/main">
            <a:r>
              <a:t>Lidé běžně nepřemýšlejí tak, že se člověk ze dne na den přesune do úplně jiné skupiny. Pojmy jako mladý, starší nebo starý mají plynulý přechod. Právě tento plynulý přechod je hlavní důvod, proč jsem použil fuzzy přístup.</a:t>
            </a:r>
          </a:p>
          <a:p xmlns:a="http://schemas.openxmlformats.org/drawingml/2006/main">
            <a:r>
              <a:t/>
            </a:r>
          </a:p>
          <a:p xmlns:a="http://schemas.openxmlformats.org/drawingml/2006/main">
            <a:r>
              <a:t>Na slidu je porovnání ostrého a fuzzy rozdělení. Ostré rozdělení pracuje se skokem. Fuzzy rozdělení tento skok nahrazuje postupnou změnou, která lépe odpovídá běžnému jazyku.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Tady vysvětluji základní pojem projektu: stupeň příslušnosti. Značí se řeckým písmenem μ, čte se mí. Hodnota μ(x) říká, jak moc daná hodnota x patří do určité fuzzy množiny.</a:t>
            </a:r>
          </a:p>
          <a:p xmlns:a="http://schemas.openxmlformats.org/drawingml/2006/main">
            <a:r>
              <a:t/>
            </a:r>
          </a:p>
          <a:p xmlns:a="http://schemas.openxmlformats.org/drawingml/2006/main">
            <a:r>
              <a:t>V mém projektu je x věk. Výsledek je číslo od nuly do jedné. Nula znamená, že věk do kategorie nepatří. Jedna znamená plnou příslušnost. Hodnoty mezi nulou a jednou znamenají částečnou příslušnost.</a:t>
            </a:r>
          </a:p>
          <a:p xmlns:a="http://schemas.openxmlformats.org/drawingml/2006/main">
            <a:r>
              <a:t/>
            </a:r>
          </a:p>
          <a:p xmlns:a="http://schemas.openxmlformats.org/drawingml/2006/main">
            <a:r>
              <a:t>Je dobré zdůraznit, že to není pravděpodobnost. Nejde o šanci, ale o míru vhodnosti daného slovního označení. Čím blíž je hodnota k jedné, tím lépe daný věk odpovídá dané kategorii.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 tomto slidu je tabulka navržených věkových kategorií. Každý řádek odpovídá jedné kategorii a obsahuje čtyři hodnoty, které určují její průběh v grafu.</a:t>
            </a:r>
          </a:p>
          <a:p xmlns:a="http://schemas.openxmlformats.org/drawingml/2006/main">
            <a:r>
              <a:t/>
            </a:r>
          </a:p>
          <a:p xmlns:a="http://schemas.openxmlformats.org/drawingml/2006/main">
            <a:r>
              <a:t>U každé kategorie je část, kde se příslušnost zvyšuje, část, kde je plná, a část, kde zase klesá. Díky tomu se sousední věkové typy nepřepínají náhle, ale postupně se mezi sebou předávají.</a:t>
            </a:r>
          </a:p>
          <a:p xmlns:a="http://schemas.openxmlformats.org/drawingml/2006/main">
            <a:r>
              <a:t/>
            </a:r>
          </a:p>
          <a:p xmlns:a="http://schemas.openxmlformats.org/drawingml/2006/main">
            <a:r>
              <a:t>Například kategorie mladí má plnou oblast v mladším dospělém věku a potom postupně klesá. Kategorie střední začíná později a překrývá se s ní. Podobně jsou navržené i další kategorie. Tabulka je důležitá proto, že z ní je přesně vidět, podle čeho aplikace počítá.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Tady je samotná funkce příslušnosti. Použil jsem lichoběžníkovou funkci, protože je jednoduchá, přehledná a pro toto zadání dostačující.</a:t>
            </a:r>
          </a:p>
          <a:p xmlns:a="http://schemas.openxmlformats.org/drawingml/2006/main">
            <a:r>
              <a:t/>
            </a:r>
          </a:p>
          <a:p xmlns:a="http://schemas.openxmlformats.org/drawingml/2006/main">
            <a:r>
              <a:t>Funkce má tři hlavní části. Nejdřív je náběh, kde hodnota roste z nuly na jedničku. Potom je oblast plné příslušnosti, kde je hodnota rovna jedné. Nakonec je pokles, kde hodnota klesá zpět k nule.</a:t>
            </a:r>
          </a:p>
          <a:p xmlns:a="http://schemas.openxmlformats.org/drawingml/2006/main">
            <a:r>
              <a:t/>
            </a:r>
          </a:p>
          <a:p xmlns:a="http://schemas.openxmlformats.org/drawingml/2006/main">
            <a:r>
              <a:t>Parametry a, b, c a d určují začátek náběhu, začátek plné oblasti, konec plné oblasti a konec poklesu. Výhoda tohoto tvaru je v tom, že se snadno vysvětluje, snadno se zobrazí v grafu a výpočet v aplikaci je jednoduchý.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 tomto slidu je grafické zobrazení výsledku. Na vodorovné ose je věk od 0 do 100 let a na svislé ose je stupeň příslušnosti μ. Každá barevná křivka představuje jednu věkovou kategorii.</a:t>
            </a:r>
          </a:p>
          <a:p xmlns:a="http://schemas.openxmlformats.org/drawingml/2006/main">
            <a:r>
              <a:t/>
            </a:r>
          </a:p>
          <a:p xmlns:a="http://schemas.openxmlformats.org/drawingml/2006/main">
            <a:r>
              <a:t>Tady bych se soustředil hlavně na orientaci v grafu. Čárkovaná svislá linka ukazuje právě zvolený věk. Body na křivkách ukazují hodnoty, které se pro tento věk odečtou.</a:t>
            </a:r>
          </a:p>
          <a:p xmlns:a="http://schemas.openxmlformats.org/drawingml/2006/main">
            <a:r>
              <a:t/>
            </a:r>
          </a:p>
          <a:p xmlns:a="http://schemas.openxmlformats.org/drawingml/2006/main">
            <a:r>
              <a:t>Důležité je, že se křivky u sousedních kategorií překrývají. Díky tomu může být jeden věk v přechodové oblasti mezi dvěma slovními kategoriemi. Přesný výpočet ukážu až na dalším slidu, tady jde hlavně o celkový vizuální přehled.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Tady je konkrétní příklad výpočtu pro věk 35 let. Tento věk leží u kategorie střední v rostoucí části funkce. Proto se příslušnost spočítá jako vzdálenost od začátku náběhu dělená délkou celého náběhu.</a:t>
            </a:r>
          </a:p>
          <a:p xmlns:a="http://schemas.openxmlformats.org/drawingml/2006/main">
            <a:r>
              <a:t/>
            </a:r>
          </a:p>
          <a:p xmlns:a="http://schemas.openxmlformats.org/drawingml/2006/main">
            <a:r>
              <a:t>Pro kategorii střední jsou hodnoty a rovno 30 a b rovno 42. Výpočet tedy je 35 minus 30, děleno 42 minus 30. Výsledek je 5 lomeno 12, což je přibližně 0,42.</a:t>
            </a:r>
          </a:p>
          <a:p xmlns:a="http://schemas.openxmlformats.org/drawingml/2006/main">
            <a:r>
              <a:t/>
            </a:r>
          </a:p>
          <a:p xmlns:a="http://schemas.openxmlformats.org/drawingml/2006/main">
            <a:r>
              <a:t>Slovně to znamená, že věk 35 let podle tohoto modelu už částečně odpovídá kategorii střední. Zároveň je ještě v přechodu z kategorie mladí. Právě na tomto příkladu je dobře vidět, proč fuzzy popis dává u věku smysl.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 tomto slidu shrnuji, jak výsledky číst. Výstupem není jedna definitivní škatulka, ale několik hodnot příslušnosti. Každá hodnota říká, jak moc zvolený věk odpovídá jedné konkrétní kategorii.</a:t>
            </a:r>
          </a:p>
          <a:p xmlns:a="http://schemas.openxmlformats.org/drawingml/2006/main">
            <a:r>
              <a:t/>
            </a:r>
          </a:p>
          <a:p xmlns:a="http://schemas.openxmlformats.org/drawingml/2006/main">
            <a:r>
              <a:t>Je důležité nezaměnit fuzzy příslušnost s pravděpodobností. Hodnoty se nemusí sčítat na jednu, protože každá kategorie má vlastní funkci příslušnosti. Nejde tedy o rozdělení pravděpodobnosti, ale o číselný popis slovních pojmů.</a:t>
            </a:r>
          </a:p>
          <a:p xmlns:a="http://schemas.openxmlformats.org/drawingml/2006/main">
            <a:r>
              <a:t/>
            </a:r>
          </a:p>
          <a:p xmlns:a="http://schemas.openxmlformats.org/drawingml/2006/main">
            <a:r>
              <a:t>Model je zároveň snadno upravitelný. Pokud bych chtěl jiné pojetí věkových hranic, stačilo by změnit parametry kategorií. Princip by zůstal stejný: neostré pojmy se popisují plynulými hodnotami místo pevných hranic.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 závěr bych shrnul, že projekt splňuje zadaný korespondenční úkol. Obsahuje návrh fuzzy množin pro šest věkových kategorií, tabulku použitých hodnot, grafické zobrazení a jednoduchou webovou aplikaci.</a:t>
            </a:r>
          </a:p>
          <a:p xmlns:a="http://schemas.openxmlformats.org/drawingml/2006/main">
            <a:r>
              <a:t/>
            </a:r>
          </a:p>
          <a:p xmlns:a="http://schemas.openxmlformats.org/drawingml/2006/main">
            <a:r>
              <a:t>Hlavní výsledek je podle mě v tom, že běžné slovní označení věku je převedené do modelu, který se dá spočítat a zobrazit. Aplikace pak slouží jako praktická ukázka: změním věk a hned vidím hodnoty příslušnosti.</a:t>
            </a:r>
          </a:p>
          <a:p xmlns:a="http://schemas.openxmlformats.org/drawingml/2006/main">
            <a:r>
              <a:t/>
            </a:r>
          </a:p>
          <a:p xmlns:a="http://schemas.openxmlformats.org/drawingml/2006/main">
            <a:r>
              <a:t>Kdybych projekt rozšiřoval dál, mohl bych přidat možnost upravovat hranice kategorií přímo v aplikaci nebo porovnat více tvarů funkcí příslušnosti. Pro účel zápočtového projektu je ale cíl splněný: výsledek je vysvětlený, vypočitatelný, tabulkový i grafický.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8379ce55dc24f51"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fed3ec233bf44f88" /><Relationship Type="http://schemas.openxmlformats.org/officeDocument/2006/relationships/slideLayout" Target="/ppt/slideLayouts/slideLayout2.xml" Id="R523fd2be4abf41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3fd2be4abf41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bc9eea203eba469b" /><Relationship Type="http://schemas.openxmlformats.org/officeDocument/2006/relationships/notesSlide" Target="/ppt/notesSlides/notesSlide1.xml" Id="R8815803b7f5544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e877c2f6d214ebb" /><Relationship Type="http://schemas.openxmlformats.org/officeDocument/2006/relationships/notesSlide" Target="/ppt/notesSlides/notesSlide2.xml" Id="Rbd402fa4b25240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e31e6d353804f2b" /><Relationship Type="http://schemas.openxmlformats.org/officeDocument/2006/relationships/notesSlide" Target="/ppt/notesSlides/notesSlide3.xml" Id="Rdfa73f1db8574d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236cf4bde7d4a94" /><Relationship Type="http://schemas.openxmlformats.org/officeDocument/2006/relationships/notesSlide" Target="/ppt/notesSlides/notesSlide4.xml" Id="R3819d4dc796041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b25175a23f34382" /><Relationship Type="http://schemas.openxmlformats.org/officeDocument/2006/relationships/notesSlide" Target="/ppt/notesSlides/notesSlide5.xml" Id="R4a5016f0606941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a83f9a2cd11433a" /><Relationship Type="http://schemas.openxmlformats.org/officeDocument/2006/relationships/notesSlide" Target="/ppt/notesSlides/notesSlide6.xml" Id="Raa47edd4cee849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5efd493f1684dd3" /><Relationship Type="http://schemas.openxmlformats.org/officeDocument/2006/relationships/image" Target="/ppt/media/image.png" Id="Rc1decfcadbfb41f7" /><Relationship Type="http://schemas.openxmlformats.org/officeDocument/2006/relationships/notesSlide" Target="/ppt/notesSlides/notesSlide7.xml" Id="R4b60b09b2a7f49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752bc4001d054f48" /><Relationship Type="http://schemas.openxmlformats.org/officeDocument/2006/relationships/notesSlide" Target="/ppt/notesSlides/notesSlide8.xml" Id="R692f177a412148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1413b0e0d8fd4ab2" /><Relationship Type="http://schemas.openxmlformats.org/officeDocument/2006/relationships/notesSlide" Target="/ppt/notesSlides/notesSlide9.xml" Id="Rf522b28627ad41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74f4dec2c96478c" /><Relationship Type="http://schemas.openxmlformats.org/officeDocument/2006/relationships/notesSlide" Target="/ppt/notesSlides/notesSlide10.xml" Id="Raa8b0b96282641b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DC02663-D300-4418-BBBA-463780F0564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4465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CBED414-A9C8-4266-9D71-071A0C0B137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24465A"/>
              </a:gs>
              <a:gs pos="100000">
                <a:srgbClr val="00798C"/>
              </a:gs>
            </a:gsLst>
            <a:lin ang="8100000"/>
          </a:gra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A02F6AF-A467-401C-BF4E-A1ECE24AAA43}"/>
              </a:ext>
            </a:extLst>
          </p:cNvPr>
          <p:cNvSpPr>
            <a:spLocks xmlns:a="http://schemas.openxmlformats.org/drawingml/2006/main" noGrp="1"/>
          </p:cNvSpPr>
          <p:nvPr/>
        </p:nvSpPr>
        <p:spPr>
          <a:xfrm xmlns:a="http://schemas.openxmlformats.org/drawingml/2006/main">
            <a:off x="685800" y="1028700"/>
            <a:ext cx="4762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D9EEF5"/>
                </a:solidFill>
                <a:latin typeface="Aptos"/>
                <a:ea typeface="Aptos"/>
                <a:cs typeface="Aptos"/>
              </a:defRPr>
            </a:pPr>
            <a:r>
              <a:rPr sz="1500" b="1">
                <a:solidFill>
                  <a:srgbClr val="D9EEF5"/>
                </a:solidFill>
                <a:latin typeface="Aptos"/>
                <a:ea typeface="Aptos"/>
                <a:cs typeface="Aptos"/>
              </a:rPr>
              <a:t/>
            </a:r>
          </a:p>
        </p:txBody>
      </p:sp>
      <p:sp>
        <p:nvSpPr>
          <p:cNvPr id="4" name="">
            <a:extLst xmlns:a="http://schemas.openxmlformats.org/drawingml/2006/main">
              <a:ext uri="{FF2B5EF4-FFF2-40B4-BE49-F238E27FC236}">
                <a16:creationId xmlns:a16="http://schemas.microsoft.com/office/drawing/2014/main" id="{C0173F03-FB43-4E92-8765-A2658C4FD5F4}"/>
              </a:ext>
            </a:extLst>
          </p:cNvPr>
          <p:cNvSpPr>
            <a:spLocks xmlns:a="http://schemas.openxmlformats.org/drawingml/2006/main" noGrp="1"/>
          </p:cNvSpPr>
          <p:nvPr/>
        </p:nvSpPr>
        <p:spPr>
          <a:xfrm xmlns:a="http://schemas.openxmlformats.org/drawingml/2006/main">
            <a:off x="685800" y="1581150"/>
            <a:ext cx="809625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40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Fuzzy logika - Fuzzy věkové rozdělení</a:t>
            </a:r>
          </a:p>
        </p:txBody>
      </p:sp>
      <p:sp>
        <p:nvSpPr>
          <p:cNvPr id="5" name="">
            <a:extLst xmlns:a="http://schemas.openxmlformats.org/drawingml/2006/main">
              <a:ext uri="{FF2B5EF4-FFF2-40B4-BE49-F238E27FC236}">
                <a16:creationId xmlns:a16="http://schemas.microsoft.com/office/drawing/2014/main" id="{F2280969-5071-48A1-B739-C149BF77446B}"/>
              </a:ext>
            </a:extLst>
          </p:cNvPr>
          <p:cNvSpPr>
            <a:spLocks xmlns:a="http://schemas.openxmlformats.org/drawingml/2006/main" noGrp="1"/>
          </p:cNvSpPr>
          <p:nvPr/>
        </p:nvSpPr>
        <p:spPr>
          <a:xfrm xmlns:a="http://schemas.openxmlformats.org/drawingml/2006/main">
            <a:off x="685800" y="2686050"/>
            <a:ext cx="6667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950" b="0">
                <a:solidFill>
                  <a:srgbClr val="F2F7FA"/>
                </a:solidFill>
                <a:latin typeface="Aptos"/>
                <a:ea typeface="Aptos"/>
                <a:cs typeface="Aptos"/>
              </a:defRPr>
            </a:pPr>
            <a:r>
              <a:rPr sz="1950" b="0">
                <a:solidFill>
                  <a:srgbClr val="F2F7FA"/>
                </a:solidFill>
                <a:latin typeface="Aptos"/>
                <a:ea typeface="Aptos"/>
                <a:cs typeface="Aptos"/>
              </a:rPr>
              <a:t>Popis běžných věkových pojmů pomocí fuzzy množin, tabulky a grafu.</a:t>
            </a:r>
          </a:p>
        </p:txBody>
      </p:sp>
      <p:sp>
        <p:nvSpPr>
          <p:cNvPr id="6" name="">
            <a:extLst xmlns:a="http://schemas.openxmlformats.org/drawingml/2006/main">
              <a:ext uri="{FF2B5EF4-FFF2-40B4-BE49-F238E27FC236}">
                <a16:creationId xmlns:a16="http://schemas.microsoft.com/office/drawing/2014/main" id="{60183491-7A91-4C8F-85B9-E536FCF1C913}"/>
              </a:ext>
            </a:extLst>
          </p:cNvPr>
          <p:cNvSpPr>
            <a:spLocks xmlns:a="http://schemas.openxmlformats.org/drawingml/2006/main" noGrp="1"/>
          </p:cNvSpPr>
          <p:nvPr/>
        </p:nvSpPr>
        <p:spPr>
          <a:xfrm xmlns:a="http://schemas.openxmlformats.org/drawingml/2006/main">
            <a:off x="685800" y="4171950"/>
            <a:ext cx="4000500" cy="38100"/>
          </a:xfrm>
          <a:prstGeom xmlns:a="http://schemas.openxmlformats.org/drawingml/2006/main" prst="rect">
            <a:avLst/>
          </a:prstGeom>
          <a:solidFill xmlns:a="http://schemas.openxmlformats.org/drawingml/2006/main">
            <a:srgbClr val="ED9B40"/>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497674AA-EF47-4710-81DE-FA83783F654A}"/>
              </a:ext>
            </a:extLst>
          </p:cNvPr>
          <p:cNvSpPr>
            <a:spLocks xmlns:a="http://schemas.openxmlformats.org/drawingml/2006/main" noGrp="1"/>
          </p:cNvSpPr>
          <p:nvPr/>
        </p:nvSpPr>
        <p:spPr>
          <a:xfrm xmlns:a="http://schemas.openxmlformats.org/drawingml/2006/main">
            <a:off x="685800" y="4476750"/>
            <a:ext cx="5905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D9EEF5"/>
                </a:solidFill>
                <a:latin typeface="Aptos"/>
                <a:ea typeface="Aptos"/>
                <a:cs typeface="Aptos"/>
              </a:defRPr>
            </a:pPr>
            <a:r>
              <a:rPr sz="1500" b="0">
                <a:solidFill>
                  <a:srgbClr val="D9EEF5"/>
                </a:solidFill>
                <a:latin typeface="Aptos"/>
                <a:ea typeface="Aptos"/>
                <a:cs typeface="Aptos"/>
              </a:rPr>
              <a:t>Jakub Mitrega</a:t>
            </a:r>
          </a:p>
        </p:txBody>
      </p:sp>
    </p:spTree>
    <p:extLst>
      <p:ext uri="{BB962C8B-B14F-4D97-AF65-F5344CB8AC3E}">
        <p14:creationId xmlns:p14="http://schemas.microsoft.com/office/powerpoint/2010/main" val="186830909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A5AFFD8-19E5-4548-9AE9-267BAB589B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9"/>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60ABA87-3CAD-4B1A-A182-4C6BB5C7CC13}"/>
              </a:ext>
            </a:extLst>
          </p:cNvPr>
          <p:cNvSpPr>
            <a:spLocks xmlns:a="http://schemas.openxmlformats.org/drawingml/2006/main" noGrp="1"/>
          </p:cNvSpPr>
          <p:nvPr/>
        </p:nvSpPr>
        <p:spPr>
          <a:xfrm xmlns:a="http://schemas.openxmlformats.org/drawingml/2006/main">
            <a:off x="0" y="0"/>
            <a:ext cx="12192000" cy="838200"/>
          </a:xfrm>
          <a:prstGeom xmlns:a="http://schemas.openxmlformats.org/drawingml/2006/main" prst="rect">
            <a:avLst/>
          </a:prstGeom>
          <a:solidFill xmlns:a="http://schemas.openxmlformats.org/drawingml/2006/main">
            <a:srgbClr val="24465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4A845C3-5180-456C-A0F0-543C21BA2F5A}"/>
              </a:ext>
            </a:extLst>
          </p:cNvPr>
          <p:cNvSpPr>
            <a:spLocks xmlns:a="http://schemas.openxmlformats.org/drawingml/2006/main" noGrp="1"/>
          </p:cNvSpPr>
          <p:nvPr/>
        </p:nvSpPr>
        <p:spPr>
          <a:xfrm xmlns:a="http://schemas.openxmlformats.org/drawingml/2006/main">
            <a:off x="609600" y="266700"/>
            <a:ext cx="5143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Fuzzy věkové rozdělení</a:t>
            </a:r>
          </a:p>
        </p:txBody>
      </p:sp>
      <p:sp>
        <p:nvSpPr>
          <p:cNvPr id="4" name="">
            <a:extLst xmlns:a="http://schemas.openxmlformats.org/drawingml/2006/main">
              <a:ext uri="{FF2B5EF4-FFF2-40B4-BE49-F238E27FC236}">
                <a16:creationId xmlns:a16="http://schemas.microsoft.com/office/drawing/2014/main" id="{2D166752-5EF0-4EF1-B9B5-406ECA426E83}"/>
              </a:ext>
            </a:extLst>
          </p:cNvPr>
          <p:cNvSpPr>
            <a:spLocks xmlns:a="http://schemas.openxmlformats.org/drawingml/2006/main" noGrp="1"/>
          </p:cNvSpPr>
          <p:nvPr/>
        </p:nvSpPr>
        <p:spPr>
          <a:xfrm xmlns:a="http://schemas.openxmlformats.org/drawingml/2006/main">
            <a:off x="11049000" y="266700"/>
            <a:ext cx="571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FFFFFF"/>
                </a:solidFill>
                <a:latin typeface="Aptos"/>
                <a:ea typeface="Aptos"/>
                <a:cs typeface="Aptos"/>
              </a:defRPr>
            </a:pPr>
            <a:r>
              <a:rPr sz="1200" b="1">
                <a:solidFill>
                  <a:srgbClr val="FFFFFF"/>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A0CB02C2-D191-4194-BA63-B91216578228}"/>
              </a:ext>
            </a:extLst>
          </p:cNvPr>
          <p:cNvSpPr>
            <a:spLocks xmlns:a="http://schemas.openxmlformats.org/drawingml/2006/main" noGrp="1"/>
          </p:cNvSpPr>
          <p:nvPr/>
        </p:nvSpPr>
        <p:spPr>
          <a:xfrm xmlns:a="http://schemas.openxmlformats.org/drawingml/2006/main">
            <a:off x="609600" y="1143000"/>
            <a:ext cx="8763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550" b="1">
                <a:solidFill>
                  <a:srgbClr val="17212B"/>
                </a:solidFill>
                <a:latin typeface="Aptos Display"/>
                <a:ea typeface="Aptos Display"/>
                <a:cs typeface="Aptos Display"/>
              </a:defRPr>
            </a:pPr>
            <a:r>
              <a:rPr sz="2550" b="1">
                <a:solidFill>
                  <a:srgbClr val="17212B"/>
                </a:solidFill>
                <a:latin typeface="Aptos Display"/>
                <a:ea typeface="Aptos Display"/>
                <a:cs typeface="Aptos Display"/>
              </a:rPr>
              <a:t>Vybraný korespondenční úkol</a:t>
            </a:r>
          </a:p>
        </p:txBody>
      </p:sp>
      <p:sp>
        <p:nvSpPr>
          <p:cNvPr id="6" name="">
            <a:extLst xmlns:a="http://schemas.openxmlformats.org/drawingml/2006/main">
              <a:ext uri="{FF2B5EF4-FFF2-40B4-BE49-F238E27FC236}">
                <a16:creationId xmlns:a16="http://schemas.microsoft.com/office/drawing/2014/main" id="{339AB43C-AE98-4C6B-B333-6C15F0909B9B}"/>
              </a:ext>
            </a:extLst>
          </p:cNvPr>
          <p:cNvSpPr>
            <a:spLocks xmlns:a="http://schemas.openxmlformats.org/drawingml/2006/main" noGrp="1"/>
          </p:cNvSpPr>
          <p:nvPr/>
        </p:nvSpPr>
        <p:spPr>
          <a:xfrm xmlns:a="http://schemas.openxmlformats.org/drawingml/2006/main">
            <a:off x="876300" y="2200275"/>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D200E056-BB90-4928-9398-8FE00F628A38}"/>
              </a:ext>
            </a:extLst>
          </p:cNvPr>
          <p:cNvSpPr>
            <a:spLocks xmlns:a="http://schemas.openxmlformats.org/drawingml/2006/main" noGrp="1"/>
          </p:cNvSpPr>
          <p:nvPr/>
        </p:nvSpPr>
        <p:spPr>
          <a:xfrm xmlns:a="http://schemas.openxmlformats.org/drawingml/2006/main">
            <a:off x="1143000" y="21145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0">
                <a:solidFill>
                  <a:srgbClr val="17212B"/>
                </a:solidFill>
                <a:latin typeface="Aptos"/>
                <a:ea typeface="Aptos"/>
                <a:cs typeface="Aptos"/>
              </a:defRPr>
            </a:pPr>
            <a:r>
              <a:rPr sz="1875" b="0">
                <a:solidFill>
                  <a:srgbClr val="17212B"/>
                </a:solidFill>
                <a:latin typeface="Aptos"/>
                <a:ea typeface="Aptos"/>
                <a:cs typeface="Aptos"/>
              </a:rPr>
              <a:t>Skripta, strana 31: popsat věkové typy pomocí fuzzy množin.</a:t>
            </a:r>
          </a:p>
        </p:txBody>
      </p:sp>
      <p:sp>
        <p:nvSpPr>
          <p:cNvPr id="8" name="">
            <a:extLst xmlns:a="http://schemas.openxmlformats.org/drawingml/2006/main">
              <a:ext uri="{FF2B5EF4-FFF2-40B4-BE49-F238E27FC236}">
                <a16:creationId xmlns:a16="http://schemas.microsoft.com/office/drawing/2014/main" id="{E30D42D9-13C6-481F-B052-298443FFA850}"/>
              </a:ext>
            </a:extLst>
          </p:cNvPr>
          <p:cNvSpPr>
            <a:spLocks xmlns:a="http://schemas.openxmlformats.org/drawingml/2006/main" noGrp="1"/>
          </p:cNvSpPr>
          <p:nvPr/>
        </p:nvSpPr>
        <p:spPr>
          <a:xfrm xmlns:a="http://schemas.openxmlformats.org/drawingml/2006/main">
            <a:off x="876300" y="2809875"/>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370D536-FB91-4F7A-A9DC-5E96A6196E2E}"/>
              </a:ext>
            </a:extLst>
          </p:cNvPr>
          <p:cNvSpPr>
            <a:spLocks xmlns:a="http://schemas.openxmlformats.org/drawingml/2006/main" noGrp="1"/>
          </p:cNvSpPr>
          <p:nvPr/>
        </p:nvSpPr>
        <p:spPr>
          <a:xfrm xmlns:a="http://schemas.openxmlformats.org/drawingml/2006/main">
            <a:off x="1143000" y="27241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0">
                <a:solidFill>
                  <a:srgbClr val="17212B"/>
                </a:solidFill>
                <a:latin typeface="Aptos"/>
                <a:ea typeface="Aptos"/>
                <a:cs typeface="Aptos"/>
              </a:defRPr>
            </a:pPr>
            <a:r>
              <a:rPr sz="1875" b="0">
                <a:solidFill>
                  <a:srgbClr val="17212B"/>
                </a:solidFill>
                <a:latin typeface="Aptos"/>
                <a:ea typeface="Aptos"/>
                <a:cs typeface="Aptos"/>
              </a:rPr>
              <a:t>Požadované kategorie: malí, mladí, střední, starší, staří, nejstarší.</a:t>
            </a:r>
          </a:p>
        </p:txBody>
      </p:sp>
      <p:sp>
        <p:nvSpPr>
          <p:cNvPr id="10" name="">
            <a:extLst xmlns:a="http://schemas.openxmlformats.org/drawingml/2006/main">
              <a:ext uri="{FF2B5EF4-FFF2-40B4-BE49-F238E27FC236}">
                <a16:creationId xmlns:a16="http://schemas.microsoft.com/office/drawing/2014/main" id="{6C91D909-CC34-4514-B5FB-2677A9AA5A7C}"/>
              </a:ext>
            </a:extLst>
          </p:cNvPr>
          <p:cNvSpPr>
            <a:spLocks xmlns:a="http://schemas.openxmlformats.org/drawingml/2006/main" noGrp="1"/>
          </p:cNvSpPr>
          <p:nvPr/>
        </p:nvSpPr>
        <p:spPr>
          <a:xfrm xmlns:a="http://schemas.openxmlformats.org/drawingml/2006/main">
            <a:off x="876300" y="3419475"/>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98F3C8C6-A036-4FA9-8C45-FBA45F8BBC62}"/>
              </a:ext>
            </a:extLst>
          </p:cNvPr>
          <p:cNvSpPr>
            <a:spLocks xmlns:a="http://schemas.openxmlformats.org/drawingml/2006/main" noGrp="1"/>
          </p:cNvSpPr>
          <p:nvPr/>
        </p:nvSpPr>
        <p:spPr>
          <a:xfrm xmlns:a="http://schemas.openxmlformats.org/drawingml/2006/main">
            <a:off x="1143000" y="33337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0">
                <a:solidFill>
                  <a:srgbClr val="17212B"/>
                </a:solidFill>
                <a:latin typeface="Aptos"/>
                <a:ea typeface="Aptos"/>
                <a:cs typeface="Aptos"/>
              </a:defRPr>
            </a:pPr>
            <a:r>
              <a:rPr sz="1875" b="0">
                <a:solidFill>
                  <a:srgbClr val="17212B"/>
                </a:solidFill>
                <a:latin typeface="Aptos"/>
                <a:ea typeface="Aptos"/>
                <a:cs typeface="Aptos"/>
              </a:rPr>
              <a:t>Výsledek má být zobrazen tabulkou i graficky.</a:t>
            </a:r>
          </a:p>
        </p:txBody>
      </p:sp>
      <p:sp>
        <p:nvSpPr>
          <p:cNvPr id="12" name="">
            <a:extLst xmlns:a="http://schemas.openxmlformats.org/drawingml/2006/main">
              <a:ext uri="{FF2B5EF4-FFF2-40B4-BE49-F238E27FC236}">
                <a16:creationId xmlns:a16="http://schemas.microsoft.com/office/drawing/2014/main" id="{F80F3D43-892F-479E-875B-D018E943A151}"/>
              </a:ext>
            </a:extLst>
          </p:cNvPr>
          <p:cNvSpPr>
            <a:spLocks xmlns:a="http://schemas.openxmlformats.org/drawingml/2006/main" noGrp="1"/>
          </p:cNvSpPr>
          <p:nvPr/>
        </p:nvSpPr>
        <p:spPr>
          <a:xfrm xmlns:a="http://schemas.openxmlformats.org/drawingml/2006/main">
            <a:off x="876300" y="4686300"/>
            <a:ext cx="9334500" cy="914400"/>
          </a:xfrm>
          <a:prstGeom xmlns:a="http://schemas.openxmlformats.org/drawingml/2006/main" prst="rect">
            <a:avLst/>
          </a:prstGeom>
          <a:solidFill xmlns:a="http://schemas.openxmlformats.org/drawingml/2006/main">
            <a:srgbClr val="ECF6EF"/>
          </a:solidFill>
          <a:ln xmlns:a="http://schemas.openxmlformats.org/drawingml/2006/main" w="9525">
            <a:solidFill>
              <a:srgbClr val="D9DEE7"/>
            </a:solidFill>
            <a:prstDash val="solid"/>
          </a:ln>
        </p:spPr>
      </p:sp>
      <p:sp>
        <p:nvSpPr>
          <p:cNvPr id="13" name="">
            <a:extLst xmlns:a="http://schemas.openxmlformats.org/drawingml/2006/main">
              <a:ext uri="{FF2B5EF4-FFF2-40B4-BE49-F238E27FC236}">
                <a16:creationId xmlns:a16="http://schemas.microsoft.com/office/drawing/2014/main" id="{25105481-2073-4553-BB51-69F2CDF36DDB}"/>
              </a:ext>
            </a:extLst>
          </p:cNvPr>
          <p:cNvSpPr>
            <a:spLocks xmlns:a="http://schemas.openxmlformats.org/drawingml/2006/main" noGrp="1"/>
          </p:cNvSpPr>
          <p:nvPr/>
        </p:nvSpPr>
        <p:spPr>
          <a:xfrm xmlns:a="http://schemas.openxmlformats.org/drawingml/2006/main">
            <a:off x="876300" y="4686300"/>
            <a:ext cx="76200" cy="914400"/>
          </a:xfrm>
          <a:prstGeom xmlns:a="http://schemas.openxmlformats.org/drawingml/2006/main" prst="rect">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7B95665F-91BC-416B-9B48-664F2BDC6999}"/>
              </a:ext>
            </a:extLst>
          </p:cNvPr>
          <p:cNvSpPr>
            <a:spLocks xmlns:a="http://schemas.openxmlformats.org/drawingml/2006/main" noGrp="1"/>
          </p:cNvSpPr>
          <p:nvPr/>
        </p:nvSpPr>
        <p:spPr>
          <a:xfrm xmlns:a="http://schemas.openxmlformats.org/drawingml/2006/main">
            <a:off x="1143000" y="4876800"/>
            <a:ext cx="88773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17212B"/>
                </a:solidFill>
                <a:latin typeface="Aptos"/>
                <a:ea typeface="Aptos"/>
                <a:cs typeface="Aptos"/>
              </a:defRPr>
            </a:pPr>
            <a:r>
              <a:rPr sz="1800" b="1">
                <a:solidFill>
                  <a:srgbClr val="17212B"/>
                </a:solidFill>
                <a:latin typeface="Aptos"/>
                <a:ea typeface="Aptos"/>
                <a:cs typeface="Aptos"/>
              </a:rPr>
              <a:t>Projekt ukazuje jednoduché použití fuzzy logiky na běžném lidském pojmu: věku.</a:t>
            </a:r>
          </a:p>
        </p:txBody>
      </p:sp>
    </p:spTree>
    <p:extLst>
      <p:ext uri="{BB962C8B-B14F-4D97-AF65-F5344CB8AC3E}">
        <p14:creationId xmlns:p14="http://schemas.microsoft.com/office/powerpoint/2010/main" val="1781794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B7B14F5-66B7-48FC-A3B4-6399AD0265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9"/>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02B1999-E835-4C3D-BBE8-CBFFA4D146D9}"/>
              </a:ext>
            </a:extLst>
          </p:cNvPr>
          <p:cNvSpPr>
            <a:spLocks xmlns:a="http://schemas.openxmlformats.org/drawingml/2006/main" noGrp="1"/>
          </p:cNvSpPr>
          <p:nvPr/>
        </p:nvSpPr>
        <p:spPr>
          <a:xfrm xmlns:a="http://schemas.openxmlformats.org/drawingml/2006/main">
            <a:off x="0" y="0"/>
            <a:ext cx="12192000" cy="838200"/>
          </a:xfrm>
          <a:prstGeom xmlns:a="http://schemas.openxmlformats.org/drawingml/2006/main" prst="rect">
            <a:avLst/>
          </a:prstGeom>
          <a:solidFill xmlns:a="http://schemas.openxmlformats.org/drawingml/2006/main">
            <a:srgbClr val="24465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6370749-3119-4331-9A3C-7632776855ED}"/>
              </a:ext>
            </a:extLst>
          </p:cNvPr>
          <p:cNvSpPr>
            <a:spLocks xmlns:a="http://schemas.openxmlformats.org/drawingml/2006/main" noGrp="1"/>
          </p:cNvSpPr>
          <p:nvPr/>
        </p:nvSpPr>
        <p:spPr>
          <a:xfrm xmlns:a="http://schemas.openxmlformats.org/drawingml/2006/main">
            <a:off x="609600" y="266700"/>
            <a:ext cx="5143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Fuzzy věkové rozdělení</a:t>
            </a:r>
          </a:p>
        </p:txBody>
      </p:sp>
      <p:sp>
        <p:nvSpPr>
          <p:cNvPr id="4" name="">
            <a:extLst xmlns:a="http://schemas.openxmlformats.org/drawingml/2006/main">
              <a:ext uri="{FF2B5EF4-FFF2-40B4-BE49-F238E27FC236}">
                <a16:creationId xmlns:a16="http://schemas.microsoft.com/office/drawing/2014/main" id="{8FA1DA95-7366-4BED-909C-3307D2E0EB07}"/>
              </a:ext>
            </a:extLst>
          </p:cNvPr>
          <p:cNvSpPr>
            <a:spLocks xmlns:a="http://schemas.openxmlformats.org/drawingml/2006/main" noGrp="1"/>
          </p:cNvSpPr>
          <p:nvPr/>
        </p:nvSpPr>
        <p:spPr>
          <a:xfrm xmlns:a="http://schemas.openxmlformats.org/drawingml/2006/main">
            <a:off x="11049000" y="266700"/>
            <a:ext cx="571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FFFFFF"/>
                </a:solidFill>
                <a:latin typeface="Aptos"/>
                <a:ea typeface="Aptos"/>
                <a:cs typeface="Aptos"/>
              </a:defRPr>
            </a:pPr>
            <a:r>
              <a:rPr sz="1200" b="1">
                <a:solidFill>
                  <a:srgbClr val="FFFFFF"/>
                </a:solidFill>
                <a:latin typeface="Aptos"/>
                <a:ea typeface="Aptos"/>
                <a:cs typeface="Aptos"/>
              </a:rPr>
              <a:t>03</a:t>
            </a:r>
          </a:p>
        </p:txBody>
      </p:sp>
      <p:sp>
        <p:nvSpPr>
          <p:cNvPr id="5" name="">
            <a:extLst xmlns:a="http://schemas.openxmlformats.org/drawingml/2006/main">
              <a:ext uri="{FF2B5EF4-FFF2-40B4-BE49-F238E27FC236}">
                <a16:creationId xmlns:a16="http://schemas.microsoft.com/office/drawing/2014/main" id="{34824F44-F538-4CE3-9B97-CF36AADDA410}"/>
              </a:ext>
            </a:extLst>
          </p:cNvPr>
          <p:cNvSpPr>
            <a:spLocks xmlns:a="http://schemas.openxmlformats.org/drawingml/2006/main" noGrp="1"/>
          </p:cNvSpPr>
          <p:nvPr/>
        </p:nvSpPr>
        <p:spPr>
          <a:xfrm xmlns:a="http://schemas.openxmlformats.org/drawingml/2006/main">
            <a:off x="609600" y="1143000"/>
            <a:ext cx="8763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550" b="1">
                <a:solidFill>
                  <a:srgbClr val="17212B"/>
                </a:solidFill>
                <a:latin typeface="Aptos Display"/>
                <a:ea typeface="Aptos Display"/>
                <a:cs typeface="Aptos Display"/>
              </a:defRPr>
            </a:pPr>
            <a:r>
              <a:rPr sz="2550" b="1">
                <a:solidFill>
                  <a:srgbClr val="17212B"/>
                </a:solidFill>
                <a:latin typeface="Aptos Display"/>
                <a:ea typeface="Aptos Display"/>
                <a:cs typeface="Aptos Display"/>
              </a:rPr>
              <a:t>Proč se hodí fuzzy množiny</a:t>
            </a:r>
          </a:p>
        </p:txBody>
      </p:sp>
      <p:sp>
        <p:nvSpPr>
          <p:cNvPr id="6" name="">
            <a:extLst xmlns:a="http://schemas.openxmlformats.org/drawingml/2006/main">
              <a:ext uri="{FF2B5EF4-FFF2-40B4-BE49-F238E27FC236}">
                <a16:creationId xmlns:a16="http://schemas.microsoft.com/office/drawing/2014/main" id="{C2762EE9-627D-4BE4-B72D-26F3CCD0229F}"/>
              </a:ext>
            </a:extLst>
          </p:cNvPr>
          <p:cNvSpPr>
            <a:spLocks xmlns:a="http://schemas.openxmlformats.org/drawingml/2006/main" noGrp="1"/>
          </p:cNvSpPr>
          <p:nvPr/>
        </p:nvSpPr>
        <p:spPr>
          <a:xfrm xmlns:a="http://schemas.openxmlformats.org/drawingml/2006/main">
            <a:off x="723900" y="2076450"/>
            <a:ext cx="4762500" cy="25908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7" name="">
            <a:extLst xmlns:a="http://schemas.openxmlformats.org/drawingml/2006/main">
              <a:ext uri="{FF2B5EF4-FFF2-40B4-BE49-F238E27FC236}">
                <a16:creationId xmlns:a16="http://schemas.microsoft.com/office/drawing/2014/main" id="{80DFF269-14A2-4E57-AD19-5DD817E49092}"/>
              </a:ext>
            </a:extLst>
          </p:cNvPr>
          <p:cNvSpPr>
            <a:spLocks xmlns:a="http://schemas.openxmlformats.org/drawingml/2006/main" noGrp="1"/>
          </p:cNvSpPr>
          <p:nvPr/>
        </p:nvSpPr>
        <p:spPr>
          <a:xfrm xmlns:a="http://schemas.openxmlformats.org/drawingml/2006/main">
            <a:off x="6705600" y="2076450"/>
            <a:ext cx="4762500" cy="25908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8" name="">
            <a:extLst xmlns:a="http://schemas.openxmlformats.org/drawingml/2006/main">
              <a:ext uri="{FF2B5EF4-FFF2-40B4-BE49-F238E27FC236}">
                <a16:creationId xmlns:a16="http://schemas.microsoft.com/office/drawing/2014/main" id="{7B1ECF4B-1350-41FB-9E8C-4888A4CA2A0F}"/>
              </a:ext>
            </a:extLst>
          </p:cNvPr>
          <p:cNvSpPr>
            <a:spLocks xmlns:a="http://schemas.openxmlformats.org/drawingml/2006/main" noGrp="1"/>
          </p:cNvSpPr>
          <p:nvPr/>
        </p:nvSpPr>
        <p:spPr>
          <a:xfrm xmlns:a="http://schemas.openxmlformats.org/drawingml/2006/main">
            <a:off x="1066800" y="2381250"/>
            <a:ext cx="37147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950" b="1">
                <a:solidFill>
                  <a:srgbClr val="17212B"/>
                </a:solidFill>
                <a:latin typeface="Aptos"/>
                <a:ea typeface="Aptos"/>
                <a:cs typeface="Aptos"/>
              </a:defRPr>
            </a:pPr>
            <a:r>
              <a:rPr sz="1950" b="1">
                <a:solidFill>
                  <a:srgbClr val="17212B"/>
                </a:solidFill>
                <a:latin typeface="Aptos"/>
                <a:ea typeface="Aptos"/>
                <a:cs typeface="Aptos"/>
              </a:rPr>
              <a:t>Ostré rozdělení</a:t>
            </a:r>
          </a:p>
        </p:txBody>
      </p:sp>
      <p:sp>
        <p:nvSpPr>
          <p:cNvPr id="9" name="">
            <a:extLst xmlns:a="http://schemas.openxmlformats.org/drawingml/2006/main">
              <a:ext uri="{FF2B5EF4-FFF2-40B4-BE49-F238E27FC236}">
                <a16:creationId xmlns:a16="http://schemas.microsoft.com/office/drawing/2014/main" id="{7D39E40C-B2A3-404F-80A3-541EC19A12F2}"/>
              </a:ext>
            </a:extLst>
          </p:cNvPr>
          <p:cNvSpPr>
            <a:spLocks xmlns:a="http://schemas.openxmlformats.org/drawingml/2006/main" noGrp="1"/>
          </p:cNvSpPr>
          <p:nvPr/>
        </p:nvSpPr>
        <p:spPr>
          <a:xfrm xmlns:a="http://schemas.openxmlformats.org/drawingml/2006/main">
            <a:off x="1066800" y="3009900"/>
            <a:ext cx="371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D1495B"/>
                </a:solidFill>
                <a:latin typeface="Aptos"/>
                <a:ea typeface="Aptos"/>
                <a:cs typeface="Aptos"/>
              </a:defRPr>
            </a:pPr>
            <a:r>
              <a:rPr sz="2100" b="1">
                <a:solidFill>
                  <a:srgbClr val="D1495B"/>
                </a:solidFill>
                <a:latin typeface="Aptos"/>
                <a:ea typeface="Aptos"/>
                <a:cs typeface="Aptos"/>
              </a:rPr>
              <a:t>30 let: mladý</a:t>
            </a:r>
          </a:p>
          <a:p xmlns:a="http://schemas.openxmlformats.org/drawingml/2006/main">
            <a:pPr algn="l">
              <a:buNone/>
              <a:defRPr sz="2100" b="1">
                <a:solidFill>
                  <a:srgbClr val="D1495B"/>
                </a:solidFill>
                <a:latin typeface="Aptos"/>
                <a:ea typeface="Aptos"/>
                <a:cs typeface="Aptos"/>
              </a:defRPr>
            </a:pPr>
            <a:r>
              <a:rPr sz="2100" b="1">
                <a:solidFill>
                  <a:srgbClr val="D1495B"/>
                </a:solidFill>
                <a:latin typeface="Aptos"/>
                <a:ea typeface="Aptos"/>
                <a:cs typeface="Aptos"/>
              </a:rPr>
              <a:t>31 let: už ne mladý</a:t>
            </a:r>
          </a:p>
        </p:txBody>
      </p:sp>
      <p:sp>
        <p:nvSpPr>
          <p:cNvPr id="10" name="">
            <a:extLst xmlns:a="http://schemas.openxmlformats.org/drawingml/2006/main">
              <a:ext uri="{FF2B5EF4-FFF2-40B4-BE49-F238E27FC236}">
                <a16:creationId xmlns:a16="http://schemas.microsoft.com/office/drawing/2014/main" id="{FAB8317A-3B7C-438D-8776-0F0FED3C77A1}"/>
              </a:ext>
            </a:extLst>
          </p:cNvPr>
          <p:cNvSpPr>
            <a:spLocks xmlns:a="http://schemas.openxmlformats.org/drawingml/2006/main" noGrp="1"/>
          </p:cNvSpPr>
          <p:nvPr/>
        </p:nvSpPr>
        <p:spPr>
          <a:xfrm xmlns:a="http://schemas.openxmlformats.org/drawingml/2006/main">
            <a:off x="7048500" y="2381250"/>
            <a:ext cx="37147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950" b="1">
                <a:solidFill>
                  <a:srgbClr val="17212B"/>
                </a:solidFill>
                <a:latin typeface="Aptos"/>
                <a:ea typeface="Aptos"/>
                <a:cs typeface="Aptos"/>
              </a:defRPr>
            </a:pPr>
            <a:r>
              <a:rPr sz="1950" b="1">
                <a:solidFill>
                  <a:srgbClr val="17212B"/>
                </a:solidFill>
                <a:latin typeface="Aptos"/>
                <a:ea typeface="Aptos"/>
                <a:cs typeface="Aptos"/>
              </a:rPr>
              <a:t>Fuzzy rozdělení</a:t>
            </a:r>
          </a:p>
        </p:txBody>
      </p:sp>
      <p:sp>
        <p:nvSpPr>
          <p:cNvPr id="11" name="">
            <a:extLst xmlns:a="http://schemas.openxmlformats.org/drawingml/2006/main">
              <a:ext uri="{FF2B5EF4-FFF2-40B4-BE49-F238E27FC236}">
                <a16:creationId xmlns:a16="http://schemas.microsoft.com/office/drawing/2014/main" id="{4CA1A531-4A76-46B7-B400-AB6788C4062C}"/>
              </a:ext>
            </a:extLst>
          </p:cNvPr>
          <p:cNvSpPr>
            <a:spLocks xmlns:a="http://schemas.openxmlformats.org/drawingml/2006/main" noGrp="1"/>
          </p:cNvSpPr>
          <p:nvPr/>
        </p:nvSpPr>
        <p:spPr>
          <a:xfrm xmlns:a="http://schemas.openxmlformats.org/drawingml/2006/main">
            <a:off x="7048500" y="3009900"/>
            <a:ext cx="371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00798C"/>
                </a:solidFill>
                <a:latin typeface="Aptos"/>
                <a:ea typeface="Aptos"/>
                <a:cs typeface="Aptos"/>
              </a:defRPr>
            </a:pPr>
            <a:r>
              <a:rPr sz="2100" b="1">
                <a:solidFill>
                  <a:srgbClr val="00798C"/>
                </a:solidFill>
                <a:latin typeface="Aptos"/>
                <a:ea typeface="Aptos"/>
                <a:cs typeface="Aptos"/>
              </a:rPr>
              <a:t>35 let: částečně mladý</a:t>
            </a:r>
          </a:p>
          <a:p xmlns:a="http://schemas.openxmlformats.org/drawingml/2006/main">
            <a:pPr algn="l">
              <a:buNone/>
              <a:defRPr sz="2100" b="1">
                <a:solidFill>
                  <a:srgbClr val="00798C"/>
                </a:solidFill>
                <a:latin typeface="Aptos"/>
                <a:ea typeface="Aptos"/>
                <a:cs typeface="Aptos"/>
              </a:defRPr>
            </a:pPr>
            <a:r>
              <a:rPr sz="2100" b="1">
                <a:solidFill>
                  <a:srgbClr val="00798C"/>
                </a:solidFill>
                <a:latin typeface="Aptos"/>
                <a:ea typeface="Aptos"/>
                <a:cs typeface="Aptos"/>
              </a:rPr>
              <a:t>a částečně střední</a:t>
            </a:r>
          </a:p>
        </p:txBody>
      </p:sp>
      <p:sp>
        <p:nvSpPr>
          <p:cNvPr id="12" name="">
            <a:extLst xmlns:a="http://schemas.openxmlformats.org/drawingml/2006/main">
              <a:ext uri="{FF2B5EF4-FFF2-40B4-BE49-F238E27FC236}">
                <a16:creationId xmlns:a16="http://schemas.microsoft.com/office/drawing/2014/main" id="{BA0DF3F3-18D1-4F4E-B918-07A68DA3B749}"/>
              </a:ext>
            </a:extLst>
          </p:cNvPr>
          <p:cNvSpPr>
            <a:spLocks xmlns:a="http://schemas.openxmlformats.org/drawingml/2006/main" noGrp="1"/>
          </p:cNvSpPr>
          <p:nvPr/>
        </p:nvSpPr>
        <p:spPr>
          <a:xfrm xmlns:a="http://schemas.openxmlformats.org/drawingml/2006/main">
            <a:off x="1924050" y="5162550"/>
            <a:ext cx="8286750" cy="723900"/>
          </a:xfrm>
          <a:prstGeom xmlns:a="http://schemas.openxmlformats.org/drawingml/2006/main" prst="rect">
            <a:avLst/>
          </a:prstGeom>
          <a:solidFill xmlns:a="http://schemas.openxmlformats.org/drawingml/2006/main">
            <a:srgbClr val="EAF2F6"/>
          </a:solidFill>
          <a:ln xmlns:a="http://schemas.openxmlformats.org/drawingml/2006/main" w="9525">
            <a:solidFill>
              <a:srgbClr val="D9DEE7"/>
            </a:solidFill>
            <a:prstDash val="solid"/>
          </a:ln>
        </p:spPr>
      </p:sp>
      <p:sp>
        <p:nvSpPr>
          <p:cNvPr id="13" name="">
            <a:extLst xmlns:a="http://schemas.openxmlformats.org/drawingml/2006/main">
              <a:ext uri="{FF2B5EF4-FFF2-40B4-BE49-F238E27FC236}">
                <a16:creationId xmlns:a16="http://schemas.microsoft.com/office/drawing/2014/main" id="{6ECBCD66-34B3-4825-85DF-5D973D64CB41}"/>
              </a:ext>
            </a:extLst>
          </p:cNvPr>
          <p:cNvSpPr>
            <a:spLocks xmlns:a="http://schemas.openxmlformats.org/drawingml/2006/main" noGrp="1"/>
          </p:cNvSpPr>
          <p:nvPr/>
        </p:nvSpPr>
        <p:spPr>
          <a:xfrm xmlns:a="http://schemas.openxmlformats.org/drawingml/2006/main">
            <a:off x="1924050" y="5162550"/>
            <a:ext cx="76200" cy="723900"/>
          </a:xfrm>
          <a:prstGeom xmlns:a="http://schemas.openxmlformats.org/drawingml/2006/main" prst="rect">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13CB667C-33E5-46F5-86A4-5C132E7391A7}"/>
              </a:ext>
            </a:extLst>
          </p:cNvPr>
          <p:cNvSpPr>
            <a:spLocks xmlns:a="http://schemas.openxmlformats.org/drawingml/2006/main" noGrp="1"/>
          </p:cNvSpPr>
          <p:nvPr/>
        </p:nvSpPr>
        <p:spPr>
          <a:xfrm xmlns:a="http://schemas.openxmlformats.org/drawingml/2006/main">
            <a:off x="2190750" y="5353050"/>
            <a:ext cx="78295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17212B"/>
                </a:solidFill>
                <a:latin typeface="Aptos"/>
                <a:ea typeface="Aptos"/>
                <a:cs typeface="Aptos"/>
              </a:defRPr>
            </a:pPr>
            <a:r>
              <a:rPr sz="1800" b="1">
                <a:solidFill>
                  <a:srgbClr val="17212B"/>
                </a:solidFill>
                <a:latin typeface="Aptos"/>
                <a:ea typeface="Aptos"/>
                <a:cs typeface="Aptos"/>
              </a:rPr>
              <a:t>Fuzzy přístup lépe odpovídá vágním pojmům v běžném jazyce.</a:t>
            </a:r>
          </a:p>
        </p:txBody>
      </p:sp>
    </p:spTree>
    <p:extLst>
      <p:ext uri="{BB962C8B-B14F-4D97-AF65-F5344CB8AC3E}">
        <p14:creationId xmlns:p14="http://schemas.microsoft.com/office/powerpoint/2010/main" val="177996595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CE1792A-42DE-40CF-809D-C542501AEC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9"/>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8C066E6-E3F1-44D2-9A80-964478F96560}"/>
              </a:ext>
            </a:extLst>
          </p:cNvPr>
          <p:cNvSpPr>
            <a:spLocks xmlns:a="http://schemas.openxmlformats.org/drawingml/2006/main" noGrp="1"/>
          </p:cNvSpPr>
          <p:nvPr/>
        </p:nvSpPr>
        <p:spPr>
          <a:xfrm xmlns:a="http://schemas.openxmlformats.org/drawingml/2006/main">
            <a:off x="0" y="0"/>
            <a:ext cx="12192000" cy="838200"/>
          </a:xfrm>
          <a:prstGeom xmlns:a="http://schemas.openxmlformats.org/drawingml/2006/main" prst="rect">
            <a:avLst/>
          </a:prstGeom>
          <a:solidFill xmlns:a="http://schemas.openxmlformats.org/drawingml/2006/main">
            <a:srgbClr val="24465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2DDFEE8-E593-48AF-84C4-A4CF15814B41}"/>
              </a:ext>
            </a:extLst>
          </p:cNvPr>
          <p:cNvSpPr>
            <a:spLocks xmlns:a="http://schemas.openxmlformats.org/drawingml/2006/main" noGrp="1"/>
          </p:cNvSpPr>
          <p:nvPr/>
        </p:nvSpPr>
        <p:spPr>
          <a:xfrm xmlns:a="http://schemas.openxmlformats.org/drawingml/2006/main">
            <a:off x="609600" y="266700"/>
            <a:ext cx="5143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Fuzzy věkové rozdělení</a:t>
            </a:r>
          </a:p>
        </p:txBody>
      </p:sp>
      <p:sp>
        <p:nvSpPr>
          <p:cNvPr id="4" name="">
            <a:extLst xmlns:a="http://schemas.openxmlformats.org/drawingml/2006/main">
              <a:ext uri="{FF2B5EF4-FFF2-40B4-BE49-F238E27FC236}">
                <a16:creationId xmlns:a16="http://schemas.microsoft.com/office/drawing/2014/main" id="{1A242A32-74EE-4017-A540-E1CB550529CF}"/>
              </a:ext>
            </a:extLst>
          </p:cNvPr>
          <p:cNvSpPr>
            <a:spLocks xmlns:a="http://schemas.openxmlformats.org/drawingml/2006/main" noGrp="1"/>
          </p:cNvSpPr>
          <p:nvPr/>
        </p:nvSpPr>
        <p:spPr>
          <a:xfrm xmlns:a="http://schemas.openxmlformats.org/drawingml/2006/main">
            <a:off x="11049000" y="266700"/>
            <a:ext cx="571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FFFFFF"/>
                </a:solidFill>
                <a:latin typeface="Aptos"/>
                <a:ea typeface="Aptos"/>
                <a:cs typeface="Aptos"/>
              </a:defRPr>
            </a:pPr>
            <a:r>
              <a:rPr sz="1200" b="1">
                <a:solidFill>
                  <a:srgbClr val="FFFFFF"/>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5B988D10-402D-47CB-A62F-38579A1E4912}"/>
              </a:ext>
            </a:extLst>
          </p:cNvPr>
          <p:cNvSpPr>
            <a:spLocks xmlns:a="http://schemas.openxmlformats.org/drawingml/2006/main" noGrp="1"/>
          </p:cNvSpPr>
          <p:nvPr/>
        </p:nvSpPr>
        <p:spPr>
          <a:xfrm xmlns:a="http://schemas.openxmlformats.org/drawingml/2006/main">
            <a:off x="609600" y="1143000"/>
            <a:ext cx="8763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550" b="1">
                <a:solidFill>
                  <a:srgbClr val="17212B"/>
                </a:solidFill>
                <a:latin typeface="Aptos Display"/>
                <a:ea typeface="Aptos Display"/>
                <a:cs typeface="Aptos Display"/>
              </a:defRPr>
            </a:pPr>
            <a:r>
              <a:rPr sz="2550" b="1">
                <a:solidFill>
                  <a:srgbClr val="17212B"/>
                </a:solidFill>
                <a:latin typeface="Aptos Display"/>
                <a:ea typeface="Aptos Display"/>
                <a:cs typeface="Aptos Display"/>
              </a:rPr>
              <a:t>Stupeň příslušnosti μ(x)</a:t>
            </a:r>
          </a:p>
        </p:txBody>
      </p:sp>
      <p:sp>
        <p:nvSpPr>
          <p:cNvPr id="6" name="">
            <a:extLst xmlns:a="http://schemas.openxmlformats.org/drawingml/2006/main">
              <a:ext uri="{FF2B5EF4-FFF2-40B4-BE49-F238E27FC236}">
                <a16:creationId xmlns:a16="http://schemas.microsoft.com/office/drawing/2014/main" id="{B00AEF02-B1D6-42AD-9852-5AAF177B3DF0}"/>
              </a:ext>
            </a:extLst>
          </p:cNvPr>
          <p:cNvSpPr>
            <a:spLocks xmlns:a="http://schemas.openxmlformats.org/drawingml/2006/main" noGrp="1"/>
          </p:cNvSpPr>
          <p:nvPr/>
        </p:nvSpPr>
        <p:spPr>
          <a:xfrm xmlns:a="http://schemas.openxmlformats.org/drawingml/2006/main">
            <a:off x="876300" y="2257425"/>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089E6C7-3DE7-44E6-875B-77B19D910909}"/>
              </a:ext>
            </a:extLst>
          </p:cNvPr>
          <p:cNvSpPr>
            <a:spLocks xmlns:a="http://schemas.openxmlformats.org/drawingml/2006/main" noGrp="1"/>
          </p:cNvSpPr>
          <p:nvPr/>
        </p:nvSpPr>
        <p:spPr>
          <a:xfrm xmlns:a="http://schemas.openxmlformats.org/drawingml/2006/main">
            <a:off x="1143000" y="2171700"/>
            <a:ext cx="6286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17212B"/>
                </a:solidFill>
                <a:latin typeface="Aptos"/>
                <a:ea typeface="Aptos"/>
                <a:cs typeface="Aptos"/>
              </a:defRPr>
            </a:pPr>
            <a:r>
              <a:rPr sz="1800" b="0">
                <a:solidFill>
                  <a:srgbClr val="17212B"/>
                </a:solidFill>
                <a:latin typeface="Aptos"/>
                <a:ea typeface="Aptos"/>
                <a:cs typeface="Aptos"/>
              </a:rPr>
              <a:t>μ(x) = 0 znamená, že věk do kategorie nepatří.</a:t>
            </a:r>
          </a:p>
        </p:txBody>
      </p:sp>
      <p:sp>
        <p:nvSpPr>
          <p:cNvPr id="8" name="">
            <a:extLst xmlns:a="http://schemas.openxmlformats.org/drawingml/2006/main">
              <a:ext uri="{FF2B5EF4-FFF2-40B4-BE49-F238E27FC236}">
                <a16:creationId xmlns:a16="http://schemas.microsoft.com/office/drawing/2014/main" id="{B891F027-643F-4034-9CAB-17C2B6F77443}"/>
              </a:ext>
            </a:extLst>
          </p:cNvPr>
          <p:cNvSpPr>
            <a:spLocks xmlns:a="http://schemas.openxmlformats.org/drawingml/2006/main" noGrp="1"/>
          </p:cNvSpPr>
          <p:nvPr/>
        </p:nvSpPr>
        <p:spPr>
          <a:xfrm xmlns:a="http://schemas.openxmlformats.org/drawingml/2006/main">
            <a:off x="876300" y="2886075"/>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B8AD27B6-10F6-431F-9A2D-EE3429E5AA88}"/>
              </a:ext>
            </a:extLst>
          </p:cNvPr>
          <p:cNvSpPr>
            <a:spLocks xmlns:a="http://schemas.openxmlformats.org/drawingml/2006/main" noGrp="1"/>
          </p:cNvSpPr>
          <p:nvPr/>
        </p:nvSpPr>
        <p:spPr>
          <a:xfrm xmlns:a="http://schemas.openxmlformats.org/drawingml/2006/main">
            <a:off x="1143000" y="2800350"/>
            <a:ext cx="6286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17212B"/>
                </a:solidFill>
                <a:latin typeface="Aptos"/>
                <a:ea typeface="Aptos"/>
                <a:cs typeface="Aptos"/>
              </a:defRPr>
            </a:pPr>
            <a:r>
              <a:rPr sz="1800" b="0">
                <a:solidFill>
                  <a:srgbClr val="17212B"/>
                </a:solidFill>
                <a:latin typeface="Aptos"/>
                <a:ea typeface="Aptos"/>
                <a:cs typeface="Aptos"/>
              </a:rPr>
              <a:t>μ(x) = 1 znamená plnou příslušnost.</a:t>
            </a:r>
          </a:p>
        </p:txBody>
      </p:sp>
      <p:sp>
        <p:nvSpPr>
          <p:cNvPr id="10" name="">
            <a:extLst xmlns:a="http://schemas.openxmlformats.org/drawingml/2006/main">
              <a:ext uri="{FF2B5EF4-FFF2-40B4-BE49-F238E27FC236}">
                <a16:creationId xmlns:a16="http://schemas.microsoft.com/office/drawing/2014/main" id="{ADCF5028-A33D-43B5-A1CF-D5C8221EACE3}"/>
              </a:ext>
            </a:extLst>
          </p:cNvPr>
          <p:cNvSpPr>
            <a:spLocks xmlns:a="http://schemas.openxmlformats.org/drawingml/2006/main" noGrp="1"/>
          </p:cNvSpPr>
          <p:nvPr/>
        </p:nvSpPr>
        <p:spPr>
          <a:xfrm xmlns:a="http://schemas.openxmlformats.org/drawingml/2006/main">
            <a:off x="876300" y="3514725"/>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8FC43EE2-EADB-4913-99A5-45F1E11C875E}"/>
              </a:ext>
            </a:extLst>
          </p:cNvPr>
          <p:cNvSpPr>
            <a:spLocks xmlns:a="http://schemas.openxmlformats.org/drawingml/2006/main" noGrp="1"/>
          </p:cNvSpPr>
          <p:nvPr/>
        </p:nvSpPr>
        <p:spPr>
          <a:xfrm xmlns:a="http://schemas.openxmlformats.org/drawingml/2006/main">
            <a:off x="1143000" y="3429000"/>
            <a:ext cx="6286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17212B"/>
                </a:solidFill>
                <a:latin typeface="Aptos"/>
                <a:ea typeface="Aptos"/>
                <a:cs typeface="Aptos"/>
              </a:defRPr>
            </a:pPr>
            <a:r>
              <a:rPr sz="1800" b="0">
                <a:solidFill>
                  <a:srgbClr val="17212B"/>
                </a:solidFill>
                <a:latin typeface="Aptos"/>
                <a:ea typeface="Aptos"/>
                <a:cs typeface="Aptos"/>
              </a:rPr>
              <a:t>Hodnoty mezi 0 a 1 znamenají částečnou příslušnost.</a:t>
            </a:r>
          </a:p>
        </p:txBody>
      </p:sp>
      <p:sp>
        <p:nvSpPr>
          <p:cNvPr id="12" name="">
            <a:extLst xmlns:a="http://schemas.openxmlformats.org/drawingml/2006/main">
              <a:ext uri="{FF2B5EF4-FFF2-40B4-BE49-F238E27FC236}">
                <a16:creationId xmlns:a16="http://schemas.microsoft.com/office/drawing/2014/main" id="{21B6F679-5991-418B-9498-EA96C0CB4639}"/>
              </a:ext>
            </a:extLst>
          </p:cNvPr>
          <p:cNvSpPr>
            <a:spLocks xmlns:a="http://schemas.openxmlformats.org/drawingml/2006/main" noGrp="1"/>
          </p:cNvSpPr>
          <p:nvPr/>
        </p:nvSpPr>
        <p:spPr>
          <a:xfrm xmlns:a="http://schemas.openxmlformats.org/drawingml/2006/main">
            <a:off x="7734300" y="2209800"/>
            <a:ext cx="3238500" cy="1676400"/>
          </a:xfrm>
          <a:prstGeom xmlns:a="http://schemas.openxmlformats.org/drawingml/2006/main" prst="rect">
            <a:avLst/>
          </a:prstGeom>
          <a:solidFill xmlns:a="http://schemas.openxmlformats.org/drawingml/2006/main">
            <a:srgbClr val="FFF3E4"/>
          </a:solidFill>
          <a:ln xmlns:a="http://schemas.openxmlformats.org/drawingml/2006/main" w="9525">
            <a:solidFill>
              <a:srgbClr val="D9DEE7"/>
            </a:solidFill>
            <a:prstDash val="solid"/>
          </a:ln>
        </p:spPr>
      </p:sp>
      <p:sp>
        <p:nvSpPr>
          <p:cNvPr id="13" name="">
            <a:extLst xmlns:a="http://schemas.openxmlformats.org/drawingml/2006/main">
              <a:ext uri="{FF2B5EF4-FFF2-40B4-BE49-F238E27FC236}">
                <a16:creationId xmlns:a16="http://schemas.microsoft.com/office/drawing/2014/main" id="{87EFDE20-3C52-4BBB-9A2C-7E8AA11A98FF}"/>
              </a:ext>
            </a:extLst>
          </p:cNvPr>
          <p:cNvSpPr>
            <a:spLocks xmlns:a="http://schemas.openxmlformats.org/drawingml/2006/main" noGrp="1"/>
          </p:cNvSpPr>
          <p:nvPr/>
        </p:nvSpPr>
        <p:spPr>
          <a:xfrm xmlns:a="http://schemas.openxmlformats.org/drawingml/2006/main">
            <a:off x="8096250" y="2781300"/>
            <a:ext cx="2667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3000" b="1">
                <a:solidFill>
                  <a:srgbClr val="24465A"/>
                </a:solidFill>
                <a:latin typeface="Aptos"/>
                <a:ea typeface="Aptos"/>
                <a:cs typeface="Aptos"/>
              </a:defRPr>
            </a:pPr>
            <a:r>
              <a:rPr sz="3000" b="1">
                <a:solidFill>
                  <a:srgbClr val="24465A"/>
                </a:solidFill>
                <a:latin typeface="Aptos"/>
                <a:ea typeface="Aptos"/>
                <a:cs typeface="Aptos"/>
              </a:rPr>
              <a:t>μ(x) ∈ &lt;0, 1&gt;</a:t>
            </a:r>
          </a:p>
        </p:txBody>
      </p:sp>
      <p:sp>
        <p:nvSpPr>
          <p:cNvPr id="14" name="">
            <a:extLst xmlns:a="http://schemas.openxmlformats.org/drawingml/2006/main">
              <a:ext uri="{FF2B5EF4-FFF2-40B4-BE49-F238E27FC236}">
                <a16:creationId xmlns:a16="http://schemas.microsoft.com/office/drawing/2014/main" id="{28026B5B-1CFF-415E-94FD-7535E8745CA3}"/>
              </a:ext>
            </a:extLst>
          </p:cNvPr>
          <p:cNvSpPr>
            <a:spLocks xmlns:a="http://schemas.openxmlformats.org/drawingml/2006/main" noGrp="1"/>
          </p:cNvSpPr>
          <p:nvPr/>
        </p:nvSpPr>
        <p:spPr>
          <a:xfrm xmlns:a="http://schemas.openxmlformats.org/drawingml/2006/main">
            <a:off x="876300" y="4953000"/>
            <a:ext cx="8572500" cy="819150"/>
          </a:xfrm>
          <a:prstGeom xmlns:a="http://schemas.openxmlformats.org/drawingml/2006/main" prst="rect">
            <a:avLst/>
          </a:prstGeom>
          <a:solidFill xmlns:a="http://schemas.openxmlformats.org/drawingml/2006/main">
            <a:srgbClr val="ECF6EF"/>
          </a:solidFill>
          <a:ln xmlns:a="http://schemas.openxmlformats.org/drawingml/2006/main" w="9525">
            <a:solidFill>
              <a:srgbClr val="D9DEE7"/>
            </a:solidFill>
            <a:prstDash val="solid"/>
          </a:ln>
        </p:spPr>
      </p:sp>
      <p:sp>
        <p:nvSpPr>
          <p:cNvPr id="15" name="">
            <a:extLst xmlns:a="http://schemas.openxmlformats.org/drawingml/2006/main">
              <a:ext uri="{FF2B5EF4-FFF2-40B4-BE49-F238E27FC236}">
                <a16:creationId xmlns:a16="http://schemas.microsoft.com/office/drawing/2014/main" id="{1048E787-B7EB-4DDD-B64F-004404230426}"/>
              </a:ext>
            </a:extLst>
          </p:cNvPr>
          <p:cNvSpPr>
            <a:spLocks xmlns:a="http://schemas.openxmlformats.org/drawingml/2006/main" noGrp="1"/>
          </p:cNvSpPr>
          <p:nvPr/>
        </p:nvSpPr>
        <p:spPr>
          <a:xfrm xmlns:a="http://schemas.openxmlformats.org/drawingml/2006/main">
            <a:off x="876300" y="4953000"/>
            <a:ext cx="76200" cy="819150"/>
          </a:xfrm>
          <a:prstGeom xmlns:a="http://schemas.openxmlformats.org/drawingml/2006/main" prst="rect">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13FD0C7B-82C7-4AEC-A463-52CA72A05486}"/>
              </a:ext>
            </a:extLst>
          </p:cNvPr>
          <p:cNvSpPr>
            <a:spLocks xmlns:a="http://schemas.openxmlformats.org/drawingml/2006/main" noGrp="1"/>
          </p:cNvSpPr>
          <p:nvPr/>
        </p:nvSpPr>
        <p:spPr>
          <a:xfrm xmlns:a="http://schemas.openxmlformats.org/drawingml/2006/main">
            <a:off x="1143000" y="5143500"/>
            <a:ext cx="81153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17212B"/>
                </a:solidFill>
                <a:latin typeface="Aptos"/>
                <a:ea typeface="Aptos"/>
                <a:cs typeface="Aptos"/>
              </a:defRPr>
            </a:pPr>
            <a:r>
              <a:rPr sz="1800" b="1">
                <a:solidFill>
                  <a:srgbClr val="17212B"/>
                </a:solidFill>
                <a:latin typeface="Aptos"/>
                <a:ea typeface="Aptos"/>
                <a:cs typeface="Aptos"/>
              </a:rPr>
              <a:t>Výstupem fuzzy množiny není ano/ne, ale míra příslušnosti.</a:t>
            </a:r>
          </a:p>
        </p:txBody>
      </p:sp>
    </p:spTree>
    <p:extLst>
      <p:ext uri="{BB962C8B-B14F-4D97-AF65-F5344CB8AC3E}">
        <p14:creationId xmlns:p14="http://schemas.microsoft.com/office/powerpoint/2010/main" val="177645722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618C355-57DB-423D-B803-C2F269AC2F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9"/>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46CE641-61D4-48E6-BE7F-9A382EC6DA58}"/>
              </a:ext>
            </a:extLst>
          </p:cNvPr>
          <p:cNvSpPr>
            <a:spLocks xmlns:a="http://schemas.openxmlformats.org/drawingml/2006/main" noGrp="1"/>
          </p:cNvSpPr>
          <p:nvPr/>
        </p:nvSpPr>
        <p:spPr>
          <a:xfrm xmlns:a="http://schemas.openxmlformats.org/drawingml/2006/main">
            <a:off x="0" y="0"/>
            <a:ext cx="12192000" cy="838200"/>
          </a:xfrm>
          <a:prstGeom xmlns:a="http://schemas.openxmlformats.org/drawingml/2006/main" prst="rect">
            <a:avLst/>
          </a:prstGeom>
          <a:solidFill xmlns:a="http://schemas.openxmlformats.org/drawingml/2006/main">
            <a:srgbClr val="24465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D65F56E-4E3D-432E-90B2-B0E754C7B4D1}"/>
              </a:ext>
            </a:extLst>
          </p:cNvPr>
          <p:cNvSpPr>
            <a:spLocks xmlns:a="http://schemas.openxmlformats.org/drawingml/2006/main" noGrp="1"/>
          </p:cNvSpPr>
          <p:nvPr/>
        </p:nvSpPr>
        <p:spPr>
          <a:xfrm xmlns:a="http://schemas.openxmlformats.org/drawingml/2006/main">
            <a:off x="609600" y="266700"/>
            <a:ext cx="5143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Fuzzy věkové rozdělení</a:t>
            </a:r>
          </a:p>
        </p:txBody>
      </p:sp>
      <p:sp>
        <p:nvSpPr>
          <p:cNvPr id="4" name="">
            <a:extLst xmlns:a="http://schemas.openxmlformats.org/drawingml/2006/main">
              <a:ext uri="{FF2B5EF4-FFF2-40B4-BE49-F238E27FC236}">
                <a16:creationId xmlns:a16="http://schemas.microsoft.com/office/drawing/2014/main" id="{F577AC43-B853-4BAE-B129-5B6B1CE36D54}"/>
              </a:ext>
            </a:extLst>
          </p:cNvPr>
          <p:cNvSpPr>
            <a:spLocks xmlns:a="http://schemas.openxmlformats.org/drawingml/2006/main" noGrp="1"/>
          </p:cNvSpPr>
          <p:nvPr/>
        </p:nvSpPr>
        <p:spPr>
          <a:xfrm xmlns:a="http://schemas.openxmlformats.org/drawingml/2006/main">
            <a:off x="11049000" y="266700"/>
            <a:ext cx="571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FFFFFF"/>
                </a:solidFill>
                <a:latin typeface="Aptos"/>
                <a:ea typeface="Aptos"/>
                <a:cs typeface="Aptos"/>
              </a:defRPr>
            </a:pPr>
            <a:r>
              <a:rPr sz="1200" b="1">
                <a:solidFill>
                  <a:srgbClr val="FFFFFF"/>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B8B5FF5A-53C4-4A3D-9B44-59DE26EB0241}"/>
              </a:ext>
            </a:extLst>
          </p:cNvPr>
          <p:cNvSpPr>
            <a:spLocks xmlns:a="http://schemas.openxmlformats.org/drawingml/2006/main" noGrp="1"/>
          </p:cNvSpPr>
          <p:nvPr/>
        </p:nvSpPr>
        <p:spPr>
          <a:xfrm xmlns:a="http://schemas.openxmlformats.org/drawingml/2006/main">
            <a:off x="609600" y="1143000"/>
            <a:ext cx="8763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550" b="1">
                <a:solidFill>
                  <a:srgbClr val="17212B"/>
                </a:solidFill>
                <a:latin typeface="Aptos Display"/>
                <a:ea typeface="Aptos Display"/>
                <a:cs typeface="Aptos Display"/>
              </a:defRPr>
            </a:pPr>
            <a:r>
              <a:rPr sz="2550" b="1">
                <a:solidFill>
                  <a:srgbClr val="17212B"/>
                </a:solidFill>
                <a:latin typeface="Aptos Display"/>
                <a:ea typeface="Aptos Display"/>
                <a:cs typeface="Aptos Display"/>
              </a:rPr>
              <a:t>Navržené věkové kategorie</a:t>
            </a:r>
          </a:p>
        </p:txBody>
      </p:sp>
      <p:sp>
        <p:nvSpPr>
          <p:cNvPr id="6" name="">
            <a:extLst xmlns:a="http://schemas.openxmlformats.org/drawingml/2006/main">
              <a:ext uri="{FF2B5EF4-FFF2-40B4-BE49-F238E27FC236}">
                <a16:creationId xmlns:a16="http://schemas.microsoft.com/office/drawing/2014/main" id="{0481143C-4287-4151-8321-FEC5113AF614}"/>
              </a:ext>
            </a:extLst>
          </p:cNvPr>
          <p:cNvSpPr>
            <a:spLocks xmlns:a="http://schemas.openxmlformats.org/drawingml/2006/main" noGrp="1"/>
          </p:cNvSpPr>
          <p:nvPr/>
        </p:nvSpPr>
        <p:spPr>
          <a:xfrm xmlns:a="http://schemas.openxmlformats.org/drawingml/2006/main">
            <a:off x="685800" y="1952625"/>
            <a:ext cx="7410450" cy="32004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7" name="">
            <a:extLst xmlns:a="http://schemas.openxmlformats.org/drawingml/2006/main">
              <a:ext uri="{FF2B5EF4-FFF2-40B4-BE49-F238E27FC236}">
                <a16:creationId xmlns:a16="http://schemas.microsoft.com/office/drawing/2014/main" id="{7E5D222E-BC55-449C-ACD6-F2484070A22F}"/>
              </a:ext>
            </a:extLst>
          </p:cNvPr>
          <p:cNvSpPr>
            <a:spLocks xmlns:a="http://schemas.openxmlformats.org/drawingml/2006/main" noGrp="1"/>
          </p:cNvSpPr>
          <p:nvPr/>
        </p:nvSpPr>
        <p:spPr>
          <a:xfrm xmlns:a="http://schemas.openxmlformats.org/drawingml/2006/main">
            <a:off x="685800" y="1952625"/>
            <a:ext cx="1619250" cy="457200"/>
          </a:xfrm>
          <a:prstGeom xmlns:a="http://schemas.openxmlformats.org/drawingml/2006/main" prst="rect">
            <a:avLst/>
          </a:prstGeom>
          <a:solidFill xmlns:a="http://schemas.openxmlformats.org/drawingml/2006/main">
            <a:srgbClr val="EAF2F6"/>
          </a:solidFill>
          <a:ln xmlns:a="http://schemas.openxmlformats.org/drawingml/2006/main" w="9525">
            <a:solidFill>
              <a:srgbClr val="D9DEE7"/>
            </a:solidFill>
            <a:prstDash val="solid"/>
          </a:ln>
        </p:spPr>
      </p:sp>
      <p:sp>
        <p:nvSpPr>
          <p:cNvPr id="8" name="">
            <a:extLst xmlns:a="http://schemas.openxmlformats.org/drawingml/2006/main">
              <a:ext uri="{FF2B5EF4-FFF2-40B4-BE49-F238E27FC236}">
                <a16:creationId xmlns:a16="http://schemas.microsoft.com/office/drawing/2014/main" id="{28C6057C-1C56-4EDF-B8F2-87171DEDCF7B}"/>
              </a:ext>
            </a:extLst>
          </p:cNvPr>
          <p:cNvSpPr>
            <a:spLocks xmlns:a="http://schemas.openxmlformats.org/drawingml/2006/main" noGrp="1"/>
          </p:cNvSpPr>
          <p:nvPr/>
        </p:nvSpPr>
        <p:spPr>
          <a:xfrm xmlns:a="http://schemas.openxmlformats.org/drawingml/2006/main">
            <a:off x="800100" y="2076450"/>
            <a:ext cx="1428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7212B"/>
                </a:solidFill>
                <a:latin typeface="Aptos"/>
                <a:ea typeface="Aptos"/>
                <a:cs typeface="Aptos"/>
              </a:defRPr>
            </a:pPr>
            <a:r>
              <a:rPr sz="1125" b="1">
                <a:solidFill>
                  <a:srgbClr val="17212B"/>
                </a:solidFill>
                <a:latin typeface="Aptos"/>
                <a:ea typeface="Aptos"/>
                <a:cs typeface="Aptos"/>
              </a:rPr>
              <a:t>množina</a:t>
            </a:r>
          </a:p>
        </p:txBody>
      </p:sp>
      <p:sp>
        <p:nvSpPr>
          <p:cNvPr id="9" name="">
            <a:extLst xmlns:a="http://schemas.openxmlformats.org/drawingml/2006/main">
              <a:ext uri="{FF2B5EF4-FFF2-40B4-BE49-F238E27FC236}">
                <a16:creationId xmlns:a16="http://schemas.microsoft.com/office/drawing/2014/main" id="{43486C38-4B66-41C1-A1CF-7281FE350F68}"/>
              </a:ext>
            </a:extLst>
          </p:cNvPr>
          <p:cNvSpPr>
            <a:spLocks xmlns:a="http://schemas.openxmlformats.org/drawingml/2006/main" noGrp="1"/>
          </p:cNvSpPr>
          <p:nvPr/>
        </p:nvSpPr>
        <p:spPr>
          <a:xfrm xmlns:a="http://schemas.openxmlformats.org/drawingml/2006/main">
            <a:off x="2305050" y="1952625"/>
            <a:ext cx="590550" cy="457200"/>
          </a:xfrm>
          <a:prstGeom xmlns:a="http://schemas.openxmlformats.org/drawingml/2006/main" prst="rect">
            <a:avLst/>
          </a:prstGeom>
          <a:solidFill xmlns:a="http://schemas.openxmlformats.org/drawingml/2006/main">
            <a:srgbClr val="EAF2F6"/>
          </a:solidFill>
          <a:ln xmlns:a="http://schemas.openxmlformats.org/drawingml/2006/main" w="9525">
            <a:solidFill>
              <a:srgbClr val="D9DEE7"/>
            </a:solidFill>
            <a:prstDash val="solid"/>
          </a:ln>
        </p:spPr>
      </p:sp>
      <p:sp>
        <p:nvSpPr>
          <p:cNvPr id="10" name="">
            <a:extLst xmlns:a="http://schemas.openxmlformats.org/drawingml/2006/main">
              <a:ext uri="{FF2B5EF4-FFF2-40B4-BE49-F238E27FC236}">
                <a16:creationId xmlns:a16="http://schemas.microsoft.com/office/drawing/2014/main" id="{512CDDB3-AC4F-4204-85E6-A0666678AF47}"/>
              </a:ext>
            </a:extLst>
          </p:cNvPr>
          <p:cNvSpPr>
            <a:spLocks xmlns:a="http://schemas.openxmlformats.org/drawingml/2006/main" noGrp="1"/>
          </p:cNvSpPr>
          <p:nvPr/>
        </p:nvSpPr>
        <p:spPr>
          <a:xfrm xmlns:a="http://schemas.openxmlformats.org/drawingml/2006/main">
            <a:off x="2419350" y="2076450"/>
            <a:ext cx="400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7212B"/>
                </a:solidFill>
                <a:latin typeface="Aptos"/>
                <a:ea typeface="Aptos"/>
                <a:cs typeface="Aptos"/>
              </a:defRPr>
            </a:pPr>
            <a:r>
              <a:rPr sz="1125" b="1">
                <a:solidFill>
                  <a:srgbClr val="17212B"/>
                </a:solidFill>
                <a:latin typeface="Aptos"/>
                <a:ea typeface="Aptos"/>
                <a:cs typeface="Aptos"/>
              </a:rPr>
              <a:t>a</a:t>
            </a:r>
          </a:p>
        </p:txBody>
      </p:sp>
      <p:sp>
        <p:nvSpPr>
          <p:cNvPr id="11" name="">
            <a:extLst xmlns:a="http://schemas.openxmlformats.org/drawingml/2006/main">
              <a:ext uri="{FF2B5EF4-FFF2-40B4-BE49-F238E27FC236}">
                <a16:creationId xmlns:a16="http://schemas.microsoft.com/office/drawing/2014/main" id="{5D3747B0-2C0D-46AB-A671-9A9C55E6F547}"/>
              </a:ext>
            </a:extLst>
          </p:cNvPr>
          <p:cNvSpPr>
            <a:spLocks xmlns:a="http://schemas.openxmlformats.org/drawingml/2006/main" noGrp="1"/>
          </p:cNvSpPr>
          <p:nvPr/>
        </p:nvSpPr>
        <p:spPr>
          <a:xfrm xmlns:a="http://schemas.openxmlformats.org/drawingml/2006/main">
            <a:off x="2895600" y="1952625"/>
            <a:ext cx="590550" cy="457200"/>
          </a:xfrm>
          <a:prstGeom xmlns:a="http://schemas.openxmlformats.org/drawingml/2006/main" prst="rect">
            <a:avLst/>
          </a:prstGeom>
          <a:solidFill xmlns:a="http://schemas.openxmlformats.org/drawingml/2006/main">
            <a:srgbClr val="EAF2F6"/>
          </a:solidFill>
          <a:ln xmlns:a="http://schemas.openxmlformats.org/drawingml/2006/main" w="9525">
            <a:solidFill>
              <a:srgbClr val="D9DEE7"/>
            </a:solidFill>
            <a:prstDash val="solid"/>
          </a:ln>
        </p:spPr>
      </p:sp>
      <p:sp>
        <p:nvSpPr>
          <p:cNvPr id="12" name="">
            <a:extLst xmlns:a="http://schemas.openxmlformats.org/drawingml/2006/main">
              <a:ext uri="{FF2B5EF4-FFF2-40B4-BE49-F238E27FC236}">
                <a16:creationId xmlns:a16="http://schemas.microsoft.com/office/drawing/2014/main" id="{F1BBA6A8-9D42-460A-9C51-185EFCFABF5D}"/>
              </a:ext>
            </a:extLst>
          </p:cNvPr>
          <p:cNvSpPr>
            <a:spLocks xmlns:a="http://schemas.openxmlformats.org/drawingml/2006/main" noGrp="1"/>
          </p:cNvSpPr>
          <p:nvPr/>
        </p:nvSpPr>
        <p:spPr>
          <a:xfrm xmlns:a="http://schemas.openxmlformats.org/drawingml/2006/main">
            <a:off x="3009900" y="2076450"/>
            <a:ext cx="400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7212B"/>
                </a:solidFill>
                <a:latin typeface="Aptos"/>
                <a:ea typeface="Aptos"/>
                <a:cs typeface="Aptos"/>
              </a:defRPr>
            </a:pPr>
            <a:r>
              <a:rPr sz="1125" b="1">
                <a:solidFill>
                  <a:srgbClr val="17212B"/>
                </a:solidFill>
                <a:latin typeface="Aptos"/>
                <a:ea typeface="Aptos"/>
                <a:cs typeface="Aptos"/>
              </a:rPr>
              <a:t>b</a:t>
            </a:r>
          </a:p>
        </p:txBody>
      </p:sp>
      <p:sp>
        <p:nvSpPr>
          <p:cNvPr id="13" name="">
            <a:extLst xmlns:a="http://schemas.openxmlformats.org/drawingml/2006/main">
              <a:ext uri="{FF2B5EF4-FFF2-40B4-BE49-F238E27FC236}">
                <a16:creationId xmlns:a16="http://schemas.microsoft.com/office/drawing/2014/main" id="{8BE8E7FE-2EC5-4CD5-B4EB-88F145F66AFB}"/>
              </a:ext>
            </a:extLst>
          </p:cNvPr>
          <p:cNvSpPr>
            <a:spLocks xmlns:a="http://schemas.openxmlformats.org/drawingml/2006/main" noGrp="1"/>
          </p:cNvSpPr>
          <p:nvPr/>
        </p:nvSpPr>
        <p:spPr>
          <a:xfrm xmlns:a="http://schemas.openxmlformats.org/drawingml/2006/main">
            <a:off x="3486150" y="1952625"/>
            <a:ext cx="590550" cy="457200"/>
          </a:xfrm>
          <a:prstGeom xmlns:a="http://schemas.openxmlformats.org/drawingml/2006/main" prst="rect">
            <a:avLst/>
          </a:prstGeom>
          <a:solidFill xmlns:a="http://schemas.openxmlformats.org/drawingml/2006/main">
            <a:srgbClr val="EAF2F6"/>
          </a:solidFill>
          <a:ln xmlns:a="http://schemas.openxmlformats.org/drawingml/2006/main" w="9525">
            <a:solidFill>
              <a:srgbClr val="D9DEE7"/>
            </a:solidFill>
            <a:prstDash val="solid"/>
          </a:ln>
        </p:spPr>
      </p:sp>
      <p:sp>
        <p:nvSpPr>
          <p:cNvPr id="14" name="">
            <a:extLst xmlns:a="http://schemas.openxmlformats.org/drawingml/2006/main">
              <a:ext uri="{FF2B5EF4-FFF2-40B4-BE49-F238E27FC236}">
                <a16:creationId xmlns:a16="http://schemas.microsoft.com/office/drawing/2014/main" id="{5C44604E-EA5A-4179-B0DA-B9233288CD27}"/>
              </a:ext>
            </a:extLst>
          </p:cNvPr>
          <p:cNvSpPr>
            <a:spLocks xmlns:a="http://schemas.openxmlformats.org/drawingml/2006/main" noGrp="1"/>
          </p:cNvSpPr>
          <p:nvPr/>
        </p:nvSpPr>
        <p:spPr>
          <a:xfrm xmlns:a="http://schemas.openxmlformats.org/drawingml/2006/main">
            <a:off x="3600450" y="2076450"/>
            <a:ext cx="400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7212B"/>
                </a:solidFill>
                <a:latin typeface="Aptos"/>
                <a:ea typeface="Aptos"/>
                <a:cs typeface="Aptos"/>
              </a:defRPr>
            </a:pPr>
            <a:r>
              <a:rPr sz="1125" b="1">
                <a:solidFill>
                  <a:srgbClr val="17212B"/>
                </a:solidFill>
                <a:latin typeface="Aptos"/>
                <a:ea typeface="Aptos"/>
                <a:cs typeface="Aptos"/>
              </a:rPr>
              <a:t>c</a:t>
            </a:r>
          </a:p>
        </p:txBody>
      </p:sp>
      <p:sp>
        <p:nvSpPr>
          <p:cNvPr id="15" name="">
            <a:extLst xmlns:a="http://schemas.openxmlformats.org/drawingml/2006/main">
              <a:ext uri="{FF2B5EF4-FFF2-40B4-BE49-F238E27FC236}">
                <a16:creationId xmlns:a16="http://schemas.microsoft.com/office/drawing/2014/main" id="{F7D48C66-7309-49D5-B17A-9E15DD8EDFF1}"/>
              </a:ext>
            </a:extLst>
          </p:cNvPr>
          <p:cNvSpPr>
            <a:spLocks xmlns:a="http://schemas.openxmlformats.org/drawingml/2006/main" noGrp="1"/>
          </p:cNvSpPr>
          <p:nvPr/>
        </p:nvSpPr>
        <p:spPr>
          <a:xfrm xmlns:a="http://schemas.openxmlformats.org/drawingml/2006/main">
            <a:off x="4076700" y="1952625"/>
            <a:ext cx="590550" cy="457200"/>
          </a:xfrm>
          <a:prstGeom xmlns:a="http://schemas.openxmlformats.org/drawingml/2006/main" prst="rect">
            <a:avLst/>
          </a:prstGeom>
          <a:solidFill xmlns:a="http://schemas.openxmlformats.org/drawingml/2006/main">
            <a:srgbClr val="EAF2F6"/>
          </a:solidFill>
          <a:ln xmlns:a="http://schemas.openxmlformats.org/drawingml/2006/main" w="9525">
            <a:solidFill>
              <a:srgbClr val="D9DEE7"/>
            </a:solidFill>
            <a:prstDash val="solid"/>
          </a:ln>
        </p:spPr>
      </p:sp>
      <p:sp>
        <p:nvSpPr>
          <p:cNvPr id="16" name="">
            <a:extLst xmlns:a="http://schemas.openxmlformats.org/drawingml/2006/main">
              <a:ext uri="{FF2B5EF4-FFF2-40B4-BE49-F238E27FC236}">
                <a16:creationId xmlns:a16="http://schemas.microsoft.com/office/drawing/2014/main" id="{67809807-552C-4B82-B4F0-96C11CEB69D1}"/>
              </a:ext>
            </a:extLst>
          </p:cNvPr>
          <p:cNvSpPr>
            <a:spLocks xmlns:a="http://schemas.openxmlformats.org/drawingml/2006/main" noGrp="1"/>
          </p:cNvSpPr>
          <p:nvPr/>
        </p:nvSpPr>
        <p:spPr>
          <a:xfrm xmlns:a="http://schemas.openxmlformats.org/drawingml/2006/main">
            <a:off x="4191000" y="2076450"/>
            <a:ext cx="400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7212B"/>
                </a:solidFill>
                <a:latin typeface="Aptos"/>
                <a:ea typeface="Aptos"/>
                <a:cs typeface="Aptos"/>
              </a:defRPr>
            </a:pPr>
            <a:r>
              <a:rPr sz="1125" b="1">
                <a:solidFill>
                  <a:srgbClr val="17212B"/>
                </a:solidFill>
                <a:latin typeface="Aptos"/>
                <a:ea typeface="Aptos"/>
                <a:cs typeface="Aptos"/>
              </a:rPr>
              <a:t>d</a:t>
            </a:r>
          </a:p>
        </p:txBody>
      </p:sp>
      <p:sp>
        <p:nvSpPr>
          <p:cNvPr id="17" name="">
            <a:extLst xmlns:a="http://schemas.openxmlformats.org/drawingml/2006/main">
              <a:ext uri="{FF2B5EF4-FFF2-40B4-BE49-F238E27FC236}">
                <a16:creationId xmlns:a16="http://schemas.microsoft.com/office/drawing/2014/main" id="{777A9817-19CD-47BB-B60E-570883CEAEB7}"/>
              </a:ext>
            </a:extLst>
          </p:cNvPr>
          <p:cNvSpPr>
            <a:spLocks xmlns:a="http://schemas.openxmlformats.org/drawingml/2006/main" noGrp="1"/>
          </p:cNvSpPr>
          <p:nvPr/>
        </p:nvSpPr>
        <p:spPr>
          <a:xfrm xmlns:a="http://schemas.openxmlformats.org/drawingml/2006/main">
            <a:off x="4667250" y="1952625"/>
            <a:ext cx="3429000" cy="457200"/>
          </a:xfrm>
          <a:prstGeom xmlns:a="http://schemas.openxmlformats.org/drawingml/2006/main" prst="rect">
            <a:avLst/>
          </a:prstGeom>
          <a:solidFill xmlns:a="http://schemas.openxmlformats.org/drawingml/2006/main">
            <a:srgbClr val="EAF2F6"/>
          </a:solidFill>
          <a:ln xmlns:a="http://schemas.openxmlformats.org/drawingml/2006/main" w="9525">
            <a:solidFill>
              <a:srgbClr val="D9DEE7"/>
            </a:solidFill>
            <a:prstDash val="solid"/>
          </a:ln>
        </p:spPr>
      </p:sp>
      <p:sp>
        <p:nvSpPr>
          <p:cNvPr id="18" name="">
            <a:extLst xmlns:a="http://schemas.openxmlformats.org/drawingml/2006/main">
              <a:ext uri="{FF2B5EF4-FFF2-40B4-BE49-F238E27FC236}">
                <a16:creationId xmlns:a16="http://schemas.microsoft.com/office/drawing/2014/main" id="{3FE22535-F891-470D-852F-11F06FDDA5F9}"/>
              </a:ext>
            </a:extLst>
          </p:cNvPr>
          <p:cNvSpPr>
            <a:spLocks xmlns:a="http://schemas.openxmlformats.org/drawingml/2006/main" noGrp="1"/>
          </p:cNvSpPr>
          <p:nvPr/>
        </p:nvSpPr>
        <p:spPr>
          <a:xfrm xmlns:a="http://schemas.openxmlformats.org/drawingml/2006/main">
            <a:off x="4781550" y="2076450"/>
            <a:ext cx="3238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7212B"/>
                </a:solidFill>
                <a:latin typeface="Aptos"/>
                <a:ea typeface="Aptos"/>
                <a:cs typeface="Aptos"/>
              </a:defRPr>
            </a:pPr>
            <a:r>
              <a:rPr sz="1125" b="1">
                <a:solidFill>
                  <a:srgbClr val="17212B"/>
                </a:solidFill>
                <a:latin typeface="Aptos"/>
                <a:ea typeface="Aptos"/>
                <a:cs typeface="Aptos"/>
              </a:rPr>
              <a:t>interpretace</a:t>
            </a:r>
          </a:p>
        </p:txBody>
      </p:sp>
      <p:sp>
        <p:nvSpPr>
          <p:cNvPr id="19" name="">
            <a:extLst xmlns:a="http://schemas.openxmlformats.org/drawingml/2006/main">
              <a:ext uri="{FF2B5EF4-FFF2-40B4-BE49-F238E27FC236}">
                <a16:creationId xmlns:a16="http://schemas.microsoft.com/office/drawing/2014/main" id="{AE2167EF-A9C7-485B-9E31-D5102023E5D9}"/>
              </a:ext>
            </a:extLst>
          </p:cNvPr>
          <p:cNvSpPr>
            <a:spLocks xmlns:a="http://schemas.openxmlformats.org/drawingml/2006/main" noGrp="1"/>
          </p:cNvSpPr>
          <p:nvPr/>
        </p:nvSpPr>
        <p:spPr>
          <a:xfrm xmlns:a="http://schemas.openxmlformats.org/drawingml/2006/main">
            <a:off x="685800" y="2409825"/>
            <a:ext cx="16192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20" name="">
            <a:extLst xmlns:a="http://schemas.openxmlformats.org/drawingml/2006/main">
              <a:ext uri="{FF2B5EF4-FFF2-40B4-BE49-F238E27FC236}">
                <a16:creationId xmlns:a16="http://schemas.microsoft.com/office/drawing/2014/main" id="{9A83A3C5-710C-4841-9793-D4D284948674}"/>
              </a:ext>
            </a:extLst>
          </p:cNvPr>
          <p:cNvSpPr>
            <a:spLocks xmlns:a="http://schemas.openxmlformats.org/drawingml/2006/main" noGrp="1"/>
          </p:cNvSpPr>
          <p:nvPr/>
        </p:nvSpPr>
        <p:spPr>
          <a:xfrm xmlns:a="http://schemas.openxmlformats.org/drawingml/2006/main">
            <a:off x="800100" y="2571750"/>
            <a:ext cx="114300" cy="114300"/>
          </a:xfrm>
          <a:prstGeom xmlns:a="http://schemas.openxmlformats.org/drawingml/2006/main" prst="ellipse">
            <a:avLst/>
          </a:prstGeom>
          <a:solidFill xmlns:a="http://schemas.openxmlformats.org/drawingml/2006/main">
            <a:srgbClr val="D1495B"/>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B0064F18-DC5C-48EC-A538-46DB84203842}"/>
              </a:ext>
            </a:extLst>
          </p:cNvPr>
          <p:cNvSpPr>
            <a:spLocks xmlns:a="http://schemas.openxmlformats.org/drawingml/2006/main" noGrp="1"/>
          </p:cNvSpPr>
          <p:nvPr/>
        </p:nvSpPr>
        <p:spPr>
          <a:xfrm xmlns:a="http://schemas.openxmlformats.org/drawingml/2006/main">
            <a:off x="1009650" y="2533650"/>
            <a:ext cx="1428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malí</a:t>
            </a:r>
          </a:p>
        </p:txBody>
      </p:sp>
      <p:sp>
        <p:nvSpPr>
          <p:cNvPr id="22" name="">
            <a:extLst xmlns:a="http://schemas.openxmlformats.org/drawingml/2006/main">
              <a:ext uri="{FF2B5EF4-FFF2-40B4-BE49-F238E27FC236}">
                <a16:creationId xmlns:a16="http://schemas.microsoft.com/office/drawing/2014/main" id="{4D13CE66-C765-4649-A4AA-C20094D35B77}"/>
              </a:ext>
            </a:extLst>
          </p:cNvPr>
          <p:cNvSpPr>
            <a:spLocks xmlns:a="http://schemas.openxmlformats.org/drawingml/2006/main" noGrp="1"/>
          </p:cNvSpPr>
          <p:nvPr/>
        </p:nvSpPr>
        <p:spPr>
          <a:xfrm xmlns:a="http://schemas.openxmlformats.org/drawingml/2006/main">
            <a:off x="2305050" y="24098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23" name="">
            <a:extLst xmlns:a="http://schemas.openxmlformats.org/drawingml/2006/main">
              <a:ext uri="{FF2B5EF4-FFF2-40B4-BE49-F238E27FC236}">
                <a16:creationId xmlns:a16="http://schemas.microsoft.com/office/drawing/2014/main" id="{00E503A1-C9C3-4F05-99B9-FB44809E59C6}"/>
              </a:ext>
            </a:extLst>
          </p:cNvPr>
          <p:cNvSpPr>
            <a:spLocks xmlns:a="http://schemas.openxmlformats.org/drawingml/2006/main" noGrp="1"/>
          </p:cNvSpPr>
          <p:nvPr/>
        </p:nvSpPr>
        <p:spPr>
          <a:xfrm xmlns:a="http://schemas.openxmlformats.org/drawingml/2006/main">
            <a:off x="2419350" y="25336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0</a:t>
            </a:r>
          </a:p>
        </p:txBody>
      </p:sp>
      <p:sp>
        <p:nvSpPr>
          <p:cNvPr id="24" name="">
            <a:extLst xmlns:a="http://schemas.openxmlformats.org/drawingml/2006/main">
              <a:ext uri="{FF2B5EF4-FFF2-40B4-BE49-F238E27FC236}">
                <a16:creationId xmlns:a16="http://schemas.microsoft.com/office/drawing/2014/main" id="{43806208-0F4D-422E-84A4-0D3F90916C3A}"/>
              </a:ext>
            </a:extLst>
          </p:cNvPr>
          <p:cNvSpPr>
            <a:spLocks xmlns:a="http://schemas.openxmlformats.org/drawingml/2006/main" noGrp="1"/>
          </p:cNvSpPr>
          <p:nvPr/>
        </p:nvSpPr>
        <p:spPr>
          <a:xfrm xmlns:a="http://schemas.openxmlformats.org/drawingml/2006/main">
            <a:off x="2895600" y="24098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25" name="">
            <a:extLst xmlns:a="http://schemas.openxmlformats.org/drawingml/2006/main">
              <a:ext uri="{FF2B5EF4-FFF2-40B4-BE49-F238E27FC236}">
                <a16:creationId xmlns:a16="http://schemas.microsoft.com/office/drawing/2014/main" id="{195D87C8-393C-4C05-98BB-9B610AF810D1}"/>
              </a:ext>
            </a:extLst>
          </p:cNvPr>
          <p:cNvSpPr>
            <a:spLocks xmlns:a="http://schemas.openxmlformats.org/drawingml/2006/main" noGrp="1"/>
          </p:cNvSpPr>
          <p:nvPr/>
        </p:nvSpPr>
        <p:spPr>
          <a:xfrm xmlns:a="http://schemas.openxmlformats.org/drawingml/2006/main">
            <a:off x="3009900" y="25336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0</a:t>
            </a:r>
          </a:p>
        </p:txBody>
      </p:sp>
      <p:sp>
        <p:nvSpPr>
          <p:cNvPr id="26" name="">
            <a:extLst xmlns:a="http://schemas.openxmlformats.org/drawingml/2006/main">
              <a:ext uri="{FF2B5EF4-FFF2-40B4-BE49-F238E27FC236}">
                <a16:creationId xmlns:a16="http://schemas.microsoft.com/office/drawing/2014/main" id="{E94CE6EB-C32B-4552-A56D-235387CF8B85}"/>
              </a:ext>
            </a:extLst>
          </p:cNvPr>
          <p:cNvSpPr>
            <a:spLocks xmlns:a="http://schemas.openxmlformats.org/drawingml/2006/main" noGrp="1"/>
          </p:cNvSpPr>
          <p:nvPr/>
        </p:nvSpPr>
        <p:spPr>
          <a:xfrm xmlns:a="http://schemas.openxmlformats.org/drawingml/2006/main">
            <a:off x="3486150" y="24098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27" name="">
            <a:extLst xmlns:a="http://schemas.openxmlformats.org/drawingml/2006/main">
              <a:ext uri="{FF2B5EF4-FFF2-40B4-BE49-F238E27FC236}">
                <a16:creationId xmlns:a16="http://schemas.microsoft.com/office/drawing/2014/main" id="{C3D4F310-B15E-41D6-A42B-E9165381FAC2}"/>
              </a:ext>
            </a:extLst>
          </p:cNvPr>
          <p:cNvSpPr>
            <a:spLocks xmlns:a="http://schemas.openxmlformats.org/drawingml/2006/main" noGrp="1"/>
          </p:cNvSpPr>
          <p:nvPr/>
        </p:nvSpPr>
        <p:spPr>
          <a:xfrm xmlns:a="http://schemas.openxmlformats.org/drawingml/2006/main">
            <a:off x="3600450" y="25336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10</a:t>
            </a:r>
          </a:p>
        </p:txBody>
      </p:sp>
      <p:sp>
        <p:nvSpPr>
          <p:cNvPr id="28" name="">
            <a:extLst xmlns:a="http://schemas.openxmlformats.org/drawingml/2006/main">
              <a:ext uri="{FF2B5EF4-FFF2-40B4-BE49-F238E27FC236}">
                <a16:creationId xmlns:a16="http://schemas.microsoft.com/office/drawing/2014/main" id="{44554A85-7E36-436C-9EF8-3357305325F4}"/>
              </a:ext>
            </a:extLst>
          </p:cNvPr>
          <p:cNvSpPr>
            <a:spLocks xmlns:a="http://schemas.openxmlformats.org/drawingml/2006/main" noGrp="1"/>
          </p:cNvSpPr>
          <p:nvPr/>
        </p:nvSpPr>
        <p:spPr>
          <a:xfrm xmlns:a="http://schemas.openxmlformats.org/drawingml/2006/main">
            <a:off x="4076700" y="24098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29" name="">
            <a:extLst xmlns:a="http://schemas.openxmlformats.org/drawingml/2006/main">
              <a:ext uri="{FF2B5EF4-FFF2-40B4-BE49-F238E27FC236}">
                <a16:creationId xmlns:a16="http://schemas.microsoft.com/office/drawing/2014/main" id="{B84E55C2-27FF-4D84-9685-70982E698984}"/>
              </a:ext>
            </a:extLst>
          </p:cNvPr>
          <p:cNvSpPr>
            <a:spLocks xmlns:a="http://schemas.openxmlformats.org/drawingml/2006/main" noGrp="1"/>
          </p:cNvSpPr>
          <p:nvPr/>
        </p:nvSpPr>
        <p:spPr>
          <a:xfrm xmlns:a="http://schemas.openxmlformats.org/drawingml/2006/main">
            <a:off x="4191000" y="25336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16</a:t>
            </a:r>
          </a:p>
        </p:txBody>
      </p:sp>
      <p:sp>
        <p:nvSpPr>
          <p:cNvPr id="30" name="">
            <a:extLst xmlns:a="http://schemas.openxmlformats.org/drawingml/2006/main">
              <a:ext uri="{FF2B5EF4-FFF2-40B4-BE49-F238E27FC236}">
                <a16:creationId xmlns:a16="http://schemas.microsoft.com/office/drawing/2014/main" id="{C0398C34-1C84-4DC6-91AD-356811C87E98}"/>
              </a:ext>
            </a:extLst>
          </p:cNvPr>
          <p:cNvSpPr>
            <a:spLocks xmlns:a="http://schemas.openxmlformats.org/drawingml/2006/main" noGrp="1"/>
          </p:cNvSpPr>
          <p:nvPr/>
        </p:nvSpPr>
        <p:spPr>
          <a:xfrm xmlns:a="http://schemas.openxmlformats.org/drawingml/2006/main">
            <a:off x="4667250" y="2409825"/>
            <a:ext cx="34290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31" name="">
            <a:extLst xmlns:a="http://schemas.openxmlformats.org/drawingml/2006/main">
              <a:ext uri="{FF2B5EF4-FFF2-40B4-BE49-F238E27FC236}">
                <a16:creationId xmlns:a16="http://schemas.microsoft.com/office/drawing/2014/main" id="{2A2E95A7-A74A-4617-894F-A924D4C82A52}"/>
              </a:ext>
            </a:extLst>
          </p:cNvPr>
          <p:cNvSpPr>
            <a:spLocks xmlns:a="http://schemas.openxmlformats.org/drawingml/2006/main" noGrp="1"/>
          </p:cNvSpPr>
          <p:nvPr/>
        </p:nvSpPr>
        <p:spPr>
          <a:xfrm xmlns:a="http://schemas.openxmlformats.org/drawingml/2006/main">
            <a:off x="4781550" y="2533650"/>
            <a:ext cx="3238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dětský věk, plynulý pokles k mládí</a:t>
            </a:r>
          </a:p>
        </p:txBody>
      </p:sp>
      <p:sp>
        <p:nvSpPr>
          <p:cNvPr id="32" name="">
            <a:extLst xmlns:a="http://schemas.openxmlformats.org/drawingml/2006/main">
              <a:ext uri="{FF2B5EF4-FFF2-40B4-BE49-F238E27FC236}">
                <a16:creationId xmlns:a16="http://schemas.microsoft.com/office/drawing/2014/main" id="{16527CC6-6317-4A9C-8542-4EBE3AA396B1}"/>
              </a:ext>
            </a:extLst>
          </p:cNvPr>
          <p:cNvSpPr>
            <a:spLocks xmlns:a="http://schemas.openxmlformats.org/drawingml/2006/main" noGrp="1"/>
          </p:cNvSpPr>
          <p:nvPr/>
        </p:nvSpPr>
        <p:spPr>
          <a:xfrm xmlns:a="http://schemas.openxmlformats.org/drawingml/2006/main">
            <a:off x="685800" y="2867025"/>
            <a:ext cx="16192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33" name="">
            <a:extLst xmlns:a="http://schemas.openxmlformats.org/drawingml/2006/main">
              <a:ext uri="{FF2B5EF4-FFF2-40B4-BE49-F238E27FC236}">
                <a16:creationId xmlns:a16="http://schemas.microsoft.com/office/drawing/2014/main" id="{C923003F-0B90-43A8-ADCB-8350B0E38A92}"/>
              </a:ext>
            </a:extLst>
          </p:cNvPr>
          <p:cNvSpPr>
            <a:spLocks xmlns:a="http://schemas.openxmlformats.org/drawingml/2006/main" noGrp="1"/>
          </p:cNvSpPr>
          <p:nvPr/>
        </p:nvSpPr>
        <p:spPr>
          <a:xfrm xmlns:a="http://schemas.openxmlformats.org/drawingml/2006/main">
            <a:off x="800100" y="3028950"/>
            <a:ext cx="114300" cy="114300"/>
          </a:xfrm>
          <a:prstGeom xmlns:a="http://schemas.openxmlformats.org/drawingml/2006/main" prst="ellipse">
            <a:avLst/>
          </a:prstGeom>
          <a:solidFill xmlns:a="http://schemas.openxmlformats.org/drawingml/2006/main">
            <a:srgbClr val="ED9B40"/>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15E30165-6384-46ED-B70F-20F525AFB6F2}"/>
              </a:ext>
            </a:extLst>
          </p:cNvPr>
          <p:cNvSpPr>
            <a:spLocks xmlns:a="http://schemas.openxmlformats.org/drawingml/2006/main" noGrp="1"/>
          </p:cNvSpPr>
          <p:nvPr/>
        </p:nvSpPr>
        <p:spPr>
          <a:xfrm xmlns:a="http://schemas.openxmlformats.org/drawingml/2006/main">
            <a:off x="1009650" y="2990850"/>
            <a:ext cx="1428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mladí</a:t>
            </a:r>
          </a:p>
        </p:txBody>
      </p:sp>
      <p:sp>
        <p:nvSpPr>
          <p:cNvPr id="35" name="">
            <a:extLst xmlns:a="http://schemas.openxmlformats.org/drawingml/2006/main">
              <a:ext uri="{FF2B5EF4-FFF2-40B4-BE49-F238E27FC236}">
                <a16:creationId xmlns:a16="http://schemas.microsoft.com/office/drawing/2014/main" id="{452810D2-78C0-4D2C-B5F8-5F15BF50DD1E}"/>
              </a:ext>
            </a:extLst>
          </p:cNvPr>
          <p:cNvSpPr>
            <a:spLocks xmlns:a="http://schemas.openxmlformats.org/drawingml/2006/main" noGrp="1"/>
          </p:cNvSpPr>
          <p:nvPr/>
        </p:nvSpPr>
        <p:spPr>
          <a:xfrm xmlns:a="http://schemas.openxmlformats.org/drawingml/2006/main">
            <a:off x="2305050" y="28670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36" name="">
            <a:extLst xmlns:a="http://schemas.openxmlformats.org/drawingml/2006/main">
              <a:ext uri="{FF2B5EF4-FFF2-40B4-BE49-F238E27FC236}">
                <a16:creationId xmlns:a16="http://schemas.microsoft.com/office/drawing/2014/main" id="{FAF162B4-D52E-4FEE-87F8-363935397578}"/>
              </a:ext>
            </a:extLst>
          </p:cNvPr>
          <p:cNvSpPr>
            <a:spLocks xmlns:a="http://schemas.openxmlformats.org/drawingml/2006/main" noGrp="1"/>
          </p:cNvSpPr>
          <p:nvPr/>
        </p:nvSpPr>
        <p:spPr>
          <a:xfrm xmlns:a="http://schemas.openxmlformats.org/drawingml/2006/main">
            <a:off x="2419350" y="29908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12</a:t>
            </a:r>
          </a:p>
        </p:txBody>
      </p:sp>
      <p:sp>
        <p:nvSpPr>
          <p:cNvPr id="37" name="">
            <a:extLst xmlns:a="http://schemas.openxmlformats.org/drawingml/2006/main">
              <a:ext uri="{FF2B5EF4-FFF2-40B4-BE49-F238E27FC236}">
                <a16:creationId xmlns:a16="http://schemas.microsoft.com/office/drawing/2014/main" id="{7680E89F-3C5F-4F70-84D9-73DA886EC17C}"/>
              </a:ext>
            </a:extLst>
          </p:cNvPr>
          <p:cNvSpPr>
            <a:spLocks xmlns:a="http://schemas.openxmlformats.org/drawingml/2006/main" noGrp="1"/>
          </p:cNvSpPr>
          <p:nvPr/>
        </p:nvSpPr>
        <p:spPr>
          <a:xfrm xmlns:a="http://schemas.openxmlformats.org/drawingml/2006/main">
            <a:off x="2895600" y="28670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38" name="">
            <a:extLst xmlns:a="http://schemas.openxmlformats.org/drawingml/2006/main">
              <a:ext uri="{FF2B5EF4-FFF2-40B4-BE49-F238E27FC236}">
                <a16:creationId xmlns:a16="http://schemas.microsoft.com/office/drawing/2014/main" id="{A3485917-6BF2-4D3E-8C5B-627DC9895A6F}"/>
              </a:ext>
            </a:extLst>
          </p:cNvPr>
          <p:cNvSpPr>
            <a:spLocks xmlns:a="http://schemas.openxmlformats.org/drawingml/2006/main" noGrp="1"/>
          </p:cNvSpPr>
          <p:nvPr/>
        </p:nvSpPr>
        <p:spPr>
          <a:xfrm xmlns:a="http://schemas.openxmlformats.org/drawingml/2006/main">
            <a:off x="3009900" y="29908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20</a:t>
            </a:r>
          </a:p>
        </p:txBody>
      </p:sp>
      <p:sp>
        <p:nvSpPr>
          <p:cNvPr id="39" name="">
            <a:extLst xmlns:a="http://schemas.openxmlformats.org/drawingml/2006/main">
              <a:ext uri="{FF2B5EF4-FFF2-40B4-BE49-F238E27FC236}">
                <a16:creationId xmlns:a16="http://schemas.microsoft.com/office/drawing/2014/main" id="{BDCD7188-1BDF-414D-B9D9-F5B2FAD9E5D0}"/>
              </a:ext>
            </a:extLst>
          </p:cNvPr>
          <p:cNvSpPr>
            <a:spLocks xmlns:a="http://schemas.openxmlformats.org/drawingml/2006/main" noGrp="1"/>
          </p:cNvSpPr>
          <p:nvPr/>
        </p:nvSpPr>
        <p:spPr>
          <a:xfrm xmlns:a="http://schemas.openxmlformats.org/drawingml/2006/main">
            <a:off x="3486150" y="28670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40" name="">
            <a:extLst xmlns:a="http://schemas.openxmlformats.org/drawingml/2006/main">
              <a:ext uri="{FF2B5EF4-FFF2-40B4-BE49-F238E27FC236}">
                <a16:creationId xmlns:a16="http://schemas.microsoft.com/office/drawing/2014/main" id="{73223B1C-AA76-4342-9525-A8424696185B}"/>
              </a:ext>
            </a:extLst>
          </p:cNvPr>
          <p:cNvSpPr>
            <a:spLocks xmlns:a="http://schemas.openxmlformats.org/drawingml/2006/main" noGrp="1"/>
          </p:cNvSpPr>
          <p:nvPr/>
        </p:nvSpPr>
        <p:spPr>
          <a:xfrm xmlns:a="http://schemas.openxmlformats.org/drawingml/2006/main">
            <a:off x="3600450" y="29908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28</a:t>
            </a:r>
          </a:p>
        </p:txBody>
      </p:sp>
      <p:sp>
        <p:nvSpPr>
          <p:cNvPr id="41" name="">
            <a:extLst xmlns:a="http://schemas.openxmlformats.org/drawingml/2006/main">
              <a:ext uri="{FF2B5EF4-FFF2-40B4-BE49-F238E27FC236}">
                <a16:creationId xmlns:a16="http://schemas.microsoft.com/office/drawing/2014/main" id="{C7E8D1E2-85F2-4C7D-A884-173FBF0B3F6C}"/>
              </a:ext>
            </a:extLst>
          </p:cNvPr>
          <p:cNvSpPr>
            <a:spLocks xmlns:a="http://schemas.openxmlformats.org/drawingml/2006/main" noGrp="1"/>
          </p:cNvSpPr>
          <p:nvPr/>
        </p:nvSpPr>
        <p:spPr>
          <a:xfrm xmlns:a="http://schemas.openxmlformats.org/drawingml/2006/main">
            <a:off x="4076700" y="28670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42" name="">
            <a:extLst xmlns:a="http://schemas.openxmlformats.org/drawingml/2006/main">
              <a:ext uri="{FF2B5EF4-FFF2-40B4-BE49-F238E27FC236}">
                <a16:creationId xmlns:a16="http://schemas.microsoft.com/office/drawing/2014/main" id="{E1D88B18-CCC8-4794-B513-7DEC3179A4ED}"/>
              </a:ext>
            </a:extLst>
          </p:cNvPr>
          <p:cNvSpPr>
            <a:spLocks xmlns:a="http://schemas.openxmlformats.org/drawingml/2006/main" noGrp="1"/>
          </p:cNvSpPr>
          <p:nvPr/>
        </p:nvSpPr>
        <p:spPr>
          <a:xfrm xmlns:a="http://schemas.openxmlformats.org/drawingml/2006/main">
            <a:off x="4191000" y="29908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40</a:t>
            </a:r>
          </a:p>
        </p:txBody>
      </p:sp>
      <p:sp>
        <p:nvSpPr>
          <p:cNvPr id="43" name="">
            <a:extLst xmlns:a="http://schemas.openxmlformats.org/drawingml/2006/main">
              <a:ext uri="{FF2B5EF4-FFF2-40B4-BE49-F238E27FC236}">
                <a16:creationId xmlns:a16="http://schemas.microsoft.com/office/drawing/2014/main" id="{9AEF2EFE-3326-43F2-BD42-44744143C33C}"/>
              </a:ext>
            </a:extLst>
          </p:cNvPr>
          <p:cNvSpPr>
            <a:spLocks xmlns:a="http://schemas.openxmlformats.org/drawingml/2006/main" noGrp="1"/>
          </p:cNvSpPr>
          <p:nvPr/>
        </p:nvSpPr>
        <p:spPr>
          <a:xfrm xmlns:a="http://schemas.openxmlformats.org/drawingml/2006/main">
            <a:off x="4667250" y="2867025"/>
            <a:ext cx="34290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44" name="">
            <a:extLst xmlns:a="http://schemas.openxmlformats.org/drawingml/2006/main">
              <a:ext uri="{FF2B5EF4-FFF2-40B4-BE49-F238E27FC236}">
                <a16:creationId xmlns:a16="http://schemas.microsoft.com/office/drawing/2014/main" id="{0A95C999-13C5-4460-971D-B14BD1351FE1}"/>
              </a:ext>
            </a:extLst>
          </p:cNvPr>
          <p:cNvSpPr>
            <a:spLocks xmlns:a="http://schemas.openxmlformats.org/drawingml/2006/main" noGrp="1"/>
          </p:cNvSpPr>
          <p:nvPr/>
        </p:nvSpPr>
        <p:spPr>
          <a:xfrm xmlns:a="http://schemas.openxmlformats.org/drawingml/2006/main">
            <a:off x="4781550" y="2990850"/>
            <a:ext cx="3238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mladý věk s překryvem do středního věku</a:t>
            </a:r>
          </a:p>
        </p:txBody>
      </p:sp>
      <p:sp>
        <p:nvSpPr>
          <p:cNvPr id="45" name="">
            <a:extLst xmlns:a="http://schemas.openxmlformats.org/drawingml/2006/main">
              <a:ext uri="{FF2B5EF4-FFF2-40B4-BE49-F238E27FC236}">
                <a16:creationId xmlns:a16="http://schemas.microsoft.com/office/drawing/2014/main" id="{7A6EA9C8-282D-45F7-AF32-CF0300C3F639}"/>
              </a:ext>
            </a:extLst>
          </p:cNvPr>
          <p:cNvSpPr>
            <a:spLocks xmlns:a="http://schemas.openxmlformats.org/drawingml/2006/main" noGrp="1"/>
          </p:cNvSpPr>
          <p:nvPr/>
        </p:nvSpPr>
        <p:spPr>
          <a:xfrm xmlns:a="http://schemas.openxmlformats.org/drawingml/2006/main">
            <a:off x="685800" y="3324225"/>
            <a:ext cx="16192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46" name="">
            <a:extLst xmlns:a="http://schemas.openxmlformats.org/drawingml/2006/main">
              <a:ext uri="{FF2B5EF4-FFF2-40B4-BE49-F238E27FC236}">
                <a16:creationId xmlns:a16="http://schemas.microsoft.com/office/drawing/2014/main" id="{3B110BC1-FA7F-49F4-B3C8-2509A8F565E8}"/>
              </a:ext>
            </a:extLst>
          </p:cNvPr>
          <p:cNvSpPr>
            <a:spLocks xmlns:a="http://schemas.openxmlformats.org/drawingml/2006/main" noGrp="1"/>
          </p:cNvSpPr>
          <p:nvPr/>
        </p:nvSpPr>
        <p:spPr>
          <a:xfrm xmlns:a="http://schemas.openxmlformats.org/drawingml/2006/main">
            <a:off x="800100" y="3486150"/>
            <a:ext cx="114300" cy="114300"/>
          </a:xfrm>
          <a:prstGeom xmlns:a="http://schemas.openxmlformats.org/drawingml/2006/main" prst="ellipse">
            <a:avLst/>
          </a:prstGeom>
          <a:solidFill xmlns:a="http://schemas.openxmlformats.org/drawingml/2006/main">
            <a:srgbClr val="3A7D44"/>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E3EA1FEA-FE00-4320-925E-081E4619E362}"/>
              </a:ext>
            </a:extLst>
          </p:cNvPr>
          <p:cNvSpPr>
            <a:spLocks xmlns:a="http://schemas.openxmlformats.org/drawingml/2006/main" noGrp="1"/>
          </p:cNvSpPr>
          <p:nvPr/>
        </p:nvSpPr>
        <p:spPr>
          <a:xfrm xmlns:a="http://schemas.openxmlformats.org/drawingml/2006/main">
            <a:off x="1009650" y="3448050"/>
            <a:ext cx="1428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střední</a:t>
            </a:r>
          </a:p>
        </p:txBody>
      </p:sp>
      <p:sp>
        <p:nvSpPr>
          <p:cNvPr id="48" name="">
            <a:extLst xmlns:a="http://schemas.openxmlformats.org/drawingml/2006/main">
              <a:ext uri="{FF2B5EF4-FFF2-40B4-BE49-F238E27FC236}">
                <a16:creationId xmlns:a16="http://schemas.microsoft.com/office/drawing/2014/main" id="{2AB77B65-CFA5-481D-9414-D44AAA4E4B5F}"/>
              </a:ext>
            </a:extLst>
          </p:cNvPr>
          <p:cNvSpPr>
            <a:spLocks xmlns:a="http://schemas.openxmlformats.org/drawingml/2006/main" noGrp="1"/>
          </p:cNvSpPr>
          <p:nvPr/>
        </p:nvSpPr>
        <p:spPr>
          <a:xfrm xmlns:a="http://schemas.openxmlformats.org/drawingml/2006/main">
            <a:off x="2305050" y="33242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49" name="">
            <a:extLst xmlns:a="http://schemas.openxmlformats.org/drawingml/2006/main">
              <a:ext uri="{FF2B5EF4-FFF2-40B4-BE49-F238E27FC236}">
                <a16:creationId xmlns:a16="http://schemas.microsoft.com/office/drawing/2014/main" id="{61F7B005-DF73-4E8B-8645-4E90A82F6CF8}"/>
              </a:ext>
            </a:extLst>
          </p:cNvPr>
          <p:cNvSpPr>
            <a:spLocks xmlns:a="http://schemas.openxmlformats.org/drawingml/2006/main" noGrp="1"/>
          </p:cNvSpPr>
          <p:nvPr/>
        </p:nvSpPr>
        <p:spPr>
          <a:xfrm xmlns:a="http://schemas.openxmlformats.org/drawingml/2006/main">
            <a:off x="2419350" y="34480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30</a:t>
            </a:r>
          </a:p>
        </p:txBody>
      </p:sp>
      <p:sp>
        <p:nvSpPr>
          <p:cNvPr id="50" name="">
            <a:extLst xmlns:a="http://schemas.openxmlformats.org/drawingml/2006/main">
              <a:ext uri="{FF2B5EF4-FFF2-40B4-BE49-F238E27FC236}">
                <a16:creationId xmlns:a16="http://schemas.microsoft.com/office/drawing/2014/main" id="{278ECA7F-E4AD-4315-BE14-3D50AA891CE2}"/>
              </a:ext>
            </a:extLst>
          </p:cNvPr>
          <p:cNvSpPr>
            <a:spLocks xmlns:a="http://schemas.openxmlformats.org/drawingml/2006/main" noGrp="1"/>
          </p:cNvSpPr>
          <p:nvPr/>
        </p:nvSpPr>
        <p:spPr>
          <a:xfrm xmlns:a="http://schemas.openxmlformats.org/drawingml/2006/main">
            <a:off x="2895600" y="33242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51" name="">
            <a:extLst xmlns:a="http://schemas.openxmlformats.org/drawingml/2006/main">
              <a:ext uri="{FF2B5EF4-FFF2-40B4-BE49-F238E27FC236}">
                <a16:creationId xmlns:a16="http://schemas.microsoft.com/office/drawing/2014/main" id="{0B5C0AEE-B3E6-4D24-A275-E9A9BEAE7686}"/>
              </a:ext>
            </a:extLst>
          </p:cNvPr>
          <p:cNvSpPr>
            <a:spLocks xmlns:a="http://schemas.openxmlformats.org/drawingml/2006/main" noGrp="1"/>
          </p:cNvSpPr>
          <p:nvPr/>
        </p:nvSpPr>
        <p:spPr>
          <a:xfrm xmlns:a="http://schemas.openxmlformats.org/drawingml/2006/main">
            <a:off x="3009900" y="34480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42</a:t>
            </a:r>
          </a:p>
        </p:txBody>
      </p:sp>
      <p:sp>
        <p:nvSpPr>
          <p:cNvPr id="52" name="">
            <a:extLst xmlns:a="http://schemas.openxmlformats.org/drawingml/2006/main">
              <a:ext uri="{FF2B5EF4-FFF2-40B4-BE49-F238E27FC236}">
                <a16:creationId xmlns:a16="http://schemas.microsoft.com/office/drawing/2014/main" id="{A2C94718-F260-4C11-BA71-8A447ED5007E}"/>
              </a:ext>
            </a:extLst>
          </p:cNvPr>
          <p:cNvSpPr>
            <a:spLocks xmlns:a="http://schemas.openxmlformats.org/drawingml/2006/main" noGrp="1"/>
          </p:cNvSpPr>
          <p:nvPr/>
        </p:nvSpPr>
        <p:spPr>
          <a:xfrm xmlns:a="http://schemas.openxmlformats.org/drawingml/2006/main">
            <a:off x="3486150" y="33242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53" name="">
            <a:extLst xmlns:a="http://schemas.openxmlformats.org/drawingml/2006/main">
              <a:ext uri="{FF2B5EF4-FFF2-40B4-BE49-F238E27FC236}">
                <a16:creationId xmlns:a16="http://schemas.microsoft.com/office/drawing/2014/main" id="{1E529478-A9A6-41D7-81F2-ADD745AD675B}"/>
              </a:ext>
            </a:extLst>
          </p:cNvPr>
          <p:cNvSpPr>
            <a:spLocks xmlns:a="http://schemas.openxmlformats.org/drawingml/2006/main" noGrp="1"/>
          </p:cNvSpPr>
          <p:nvPr/>
        </p:nvSpPr>
        <p:spPr>
          <a:xfrm xmlns:a="http://schemas.openxmlformats.org/drawingml/2006/main">
            <a:off x="3600450" y="34480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50</a:t>
            </a:r>
          </a:p>
        </p:txBody>
      </p:sp>
      <p:sp>
        <p:nvSpPr>
          <p:cNvPr id="54" name="">
            <a:extLst xmlns:a="http://schemas.openxmlformats.org/drawingml/2006/main">
              <a:ext uri="{FF2B5EF4-FFF2-40B4-BE49-F238E27FC236}">
                <a16:creationId xmlns:a16="http://schemas.microsoft.com/office/drawing/2014/main" id="{869BE02D-FD9B-45DD-BF7B-1D47F97D5B45}"/>
              </a:ext>
            </a:extLst>
          </p:cNvPr>
          <p:cNvSpPr>
            <a:spLocks xmlns:a="http://schemas.openxmlformats.org/drawingml/2006/main" noGrp="1"/>
          </p:cNvSpPr>
          <p:nvPr/>
        </p:nvSpPr>
        <p:spPr>
          <a:xfrm xmlns:a="http://schemas.openxmlformats.org/drawingml/2006/main">
            <a:off x="4076700" y="33242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55" name="">
            <a:extLst xmlns:a="http://schemas.openxmlformats.org/drawingml/2006/main">
              <a:ext uri="{FF2B5EF4-FFF2-40B4-BE49-F238E27FC236}">
                <a16:creationId xmlns:a16="http://schemas.microsoft.com/office/drawing/2014/main" id="{DD58D2BA-27D9-4541-B591-56F0B37D7073}"/>
              </a:ext>
            </a:extLst>
          </p:cNvPr>
          <p:cNvSpPr>
            <a:spLocks xmlns:a="http://schemas.openxmlformats.org/drawingml/2006/main" noGrp="1"/>
          </p:cNvSpPr>
          <p:nvPr/>
        </p:nvSpPr>
        <p:spPr>
          <a:xfrm xmlns:a="http://schemas.openxmlformats.org/drawingml/2006/main">
            <a:off x="4191000" y="34480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60</a:t>
            </a:r>
          </a:p>
        </p:txBody>
      </p:sp>
      <p:sp>
        <p:nvSpPr>
          <p:cNvPr id="56" name="">
            <a:extLst xmlns:a="http://schemas.openxmlformats.org/drawingml/2006/main">
              <a:ext uri="{FF2B5EF4-FFF2-40B4-BE49-F238E27FC236}">
                <a16:creationId xmlns:a16="http://schemas.microsoft.com/office/drawing/2014/main" id="{EEBE195A-094C-4C8A-9638-EC3F8274E1D7}"/>
              </a:ext>
            </a:extLst>
          </p:cNvPr>
          <p:cNvSpPr>
            <a:spLocks xmlns:a="http://schemas.openxmlformats.org/drawingml/2006/main" noGrp="1"/>
          </p:cNvSpPr>
          <p:nvPr/>
        </p:nvSpPr>
        <p:spPr>
          <a:xfrm xmlns:a="http://schemas.openxmlformats.org/drawingml/2006/main">
            <a:off x="4667250" y="3324225"/>
            <a:ext cx="34290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57" name="">
            <a:extLst xmlns:a="http://schemas.openxmlformats.org/drawingml/2006/main">
              <a:ext uri="{FF2B5EF4-FFF2-40B4-BE49-F238E27FC236}">
                <a16:creationId xmlns:a16="http://schemas.microsoft.com/office/drawing/2014/main" id="{CA73DAA9-16F8-467A-A6C1-B67EA68E7F30}"/>
              </a:ext>
            </a:extLst>
          </p:cNvPr>
          <p:cNvSpPr>
            <a:spLocks xmlns:a="http://schemas.openxmlformats.org/drawingml/2006/main" noGrp="1"/>
          </p:cNvSpPr>
          <p:nvPr/>
        </p:nvSpPr>
        <p:spPr>
          <a:xfrm xmlns:a="http://schemas.openxmlformats.org/drawingml/2006/main">
            <a:off x="4781550" y="3448050"/>
            <a:ext cx="3238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střední věk, pozvolný nástup i ústup</a:t>
            </a:r>
          </a:p>
        </p:txBody>
      </p:sp>
      <p:sp>
        <p:nvSpPr>
          <p:cNvPr id="58" name="">
            <a:extLst xmlns:a="http://schemas.openxmlformats.org/drawingml/2006/main">
              <a:ext uri="{FF2B5EF4-FFF2-40B4-BE49-F238E27FC236}">
                <a16:creationId xmlns:a16="http://schemas.microsoft.com/office/drawing/2014/main" id="{C9B17FF6-E615-48D8-BDF3-D28C8C3D7B64}"/>
              </a:ext>
            </a:extLst>
          </p:cNvPr>
          <p:cNvSpPr>
            <a:spLocks xmlns:a="http://schemas.openxmlformats.org/drawingml/2006/main" noGrp="1"/>
          </p:cNvSpPr>
          <p:nvPr/>
        </p:nvSpPr>
        <p:spPr>
          <a:xfrm xmlns:a="http://schemas.openxmlformats.org/drawingml/2006/main">
            <a:off x="685800" y="3781425"/>
            <a:ext cx="16192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59" name="">
            <a:extLst xmlns:a="http://schemas.openxmlformats.org/drawingml/2006/main">
              <a:ext uri="{FF2B5EF4-FFF2-40B4-BE49-F238E27FC236}">
                <a16:creationId xmlns:a16="http://schemas.microsoft.com/office/drawing/2014/main" id="{E4BDEBEE-FAFF-4021-8AE4-68EF95116FE2}"/>
              </a:ext>
            </a:extLst>
          </p:cNvPr>
          <p:cNvSpPr>
            <a:spLocks xmlns:a="http://schemas.openxmlformats.org/drawingml/2006/main" noGrp="1"/>
          </p:cNvSpPr>
          <p:nvPr/>
        </p:nvSpPr>
        <p:spPr>
          <a:xfrm xmlns:a="http://schemas.openxmlformats.org/drawingml/2006/main">
            <a:off x="800100" y="3943350"/>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60" name="">
            <a:extLst xmlns:a="http://schemas.openxmlformats.org/drawingml/2006/main">
              <a:ext uri="{FF2B5EF4-FFF2-40B4-BE49-F238E27FC236}">
                <a16:creationId xmlns:a16="http://schemas.microsoft.com/office/drawing/2014/main" id="{B83E74F8-D12B-4F63-9865-319999CCA6B6}"/>
              </a:ext>
            </a:extLst>
          </p:cNvPr>
          <p:cNvSpPr>
            <a:spLocks xmlns:a="http://schemas.openxmlformats.org/drawingml/2006/main" noGrp="1"/>
          </p:cNvSpPr>
          <p:nvPr/>
        </p:nvSpPr>
        <p:spPr>
          <a:xfrm xmlns:a="http://schemas.openxmlformats.org/drawingml/2006/main">
            <a:off x="1009650" y="3905250"/>
            <a:ext cx="1428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starší</a:t>
            </a:r>
          </a:p>
        </p:txBody>
      </p:sp>
      <p:sp>
        <p:nvSpPr>
          <p:cNvPr id="61" name="">
            <a:extLst xmlns:a="http://schemas.openxmlformats.org/drawingml/2006/main">
              <a:ext uri="{FF2B5EF4-FFF2-40B4-BE49-F238E27FC236}">
                <a16:creationId xmlns:a16="http://schemas.microsoft.com/office/drawing/2014/main" id="{31DA1C7F-C5F0-48B2-ACD8-AF9C7DA173DA}"/>
              </a:ext>
            </a:extLst>
          </p:cNvPr>
          <p:cNvSpPr>
            <a:spLocks xmlns:a="http://schemas.openxmlformats.org/drawingml/2006/main" noGrp="1"/>
          </p:cNvSpPr>
          <p:nvPr/>
        </p:nvSpPr>
        <p:spPr>
          <a:xfrm xmlns:a="http://schemas.openxmlformats.org/drawingml/2006/main">
            <a:off x="2305050" y="37814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62" name="">
            <a:extLst xmlns:a="http://schemas.openxmlformats.org/drawingml/2006/main">
              <a:ext uri="{FF2B5EF4-FFF2-40B4-BE49-F238E27FC236}">
                <a16:creationId xmlns:a16="http://schemas.microsoft.com/office/drawing/2014/main" id="{AD6FE065-FEB3-4FC2-A872-8AE8AA5F0F40}"/>
              </a:ext>
            </a:extLst>
          </p:cNvPr>
          <p:cNvSpPr>
            <a:spLocks xmlns:a="http://schemas.openxmlformats.org/drawingml/2006/main" noGrp="1"/>
          </p:cNvSpPr>
          <p:nvPr/>
        </p:nvSpPr>
        <p:spPr>
          <a:xfrm xmlns:a="http://schemas.openxmlformats.org/drawingml/2006/main">
            <a:off x="2419350" y="39052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50</a:t>
            </a:r>
          </a:p>
        </p:txBody>
      </p:sp>
      <p:sp>
        <p:nvSpPr>
          <p:cNvPr id="63" name="">
            <a:extLst xmlns:a="http://schemas.openxmlformats.org/drawingml/2006/main">
              <a:ext uri="{FF2B5EF4-FFF2-40B4-BE49-F238E27FC236}">
                <a16:creationId xmlns:a16="http://schemas.microsoft.com/office/drawing/2014/main" id="{94C939A7-3502-412E-AA4B-43C7387020A5}"/>
              </a:ext>
            </a:extLst>
          </p:cNvPr>
          <p:cNvSpPr>
            <a:spLocks xmlns:a="http://schemas.openxmlformats.org/drawingml/2006/main" noGrp="1"/>
          </p:cNvSpPr>
          <p:nvPr/>
        </p:nvSpPr>
        <p:spPr>
          <a:xfrm xmlns:a="http://schemas.openxmlformats.org/drawingml/2006/main">
            <a:off x="2895600" y="37814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64" name="">
            <a:extLst xmlns:a="http://schemas.openxmlformats.org/drawingml/2006/main">
              <a:ext uri="{FF2B5EF4-FFF2-40B4-BE49-F238E27FC236}">
                <a16:creationId xmlns:a16="http://schemas.microsoft.com/office/drawing/2014/main" id="{097CEEE8-3007-4284-AB6B-82E5B48EF4A7}"/>
              </a:ext>
            </a:extLst>
          </p:cNvPr>
          <p:cNvSpPr>
            <a:spLocks xmlns:a="http://schemas.openxmlformats.org/drawingml/2006/main" noGrp="1"/>
          </p:cNvSpPr>
          <p:nvPr/>
        </p:nvSpPr>
        <p:spPr>
          <a:xfrm xmlns:a="http://schemas.openxmlformats.org/drawingml/2006/main">
            <a:off x="3009900" y="39052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60</a:t>
            </a:r>
          </a:p>
        </p:txBody>
      </p:sp>
      <p:sp>
        <p:nvSpPr>
          <p:cNvPr id="65" name="">
            <a:extLst xmlns:a="http://schemas.openxmlformats.org/drawingml/2006/main">
              <a:ext uri="{FF2B5EF4-FFF2-40B4-BE49-F238E27FC236}">
                <a16:creationId xmlns:a16="http://schemas.microsoft.com/office/drawing/2014/main" id="{0A742193-179A-4C03-95C7-BF65B2DCFEF6}"/>
              </a:ext>
            </a:extLst>
          </p:cNvPr>
          <p:cNvSpPr>
            <a:spLocks xmlns:a="http://schemas.openxmlformats.org/drawingml/2006/main" noGrp="1"/>
          </p:cNvSpPr>
          <p:nvPr/>
        </p:nvSpPr>
        <p:spPr>
          <a:xfrm xmlns:a="http://schemas.openxmlformats.org/drawingml/2006/main">
            <a:off x="3486150" y="37814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66" name="">
            <a:extLst xmlns:a="http://schemas.openxmlformats.org/drawingml/2006/main">
              <a:ext uri="{FF2B5EF4-FFF2-40B4-BE49-F238E27FC236}">
                <a16:creationId xmlns:a16="http://schemas.microsoft.com/office/drawing/2014/main" id="{0EAD7FF7-FBFF-487B-B387-36FB6A4F8299}"/>
              </a:ext>
            </a:extLst>
          </p:cNvPr>
          <p:cNvSpPr>
            <a:spLocks xmlns:a="http://schemas.openxmlformats.org/drawingml/2006/main" noGrp="1"/>
          </p:cNvSpPr>
          <p:nvPr/>
        </p:nvSpPr>
        <p:spPr>
          <a:xfrm xmlns:a="http://schemas.openxmlformats.org/drawingml/2006/main">
            <a:off x="3600450" y="39052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67</a:t>
            </a:r>
          </a:p>
        </p:txBody>
      </p:sp>
      <p:sp>
        <p:nvSpPr>
          <p:cNvPr id="67" name="">
            <a:extLst xmlns:a="http://schemas.openxmlformats.org/drawingml/2006/main">
              <a:ext uri="{FF2B5EF4-FFF2-40B4-BE49-F238E27FC236}">
                <a16:creationId xmlns:a16="http://schemas.microsoft.com/office/drawing/2014/main" id="{C2C33BBB-9662-40F3-83C3-CF048B354861}"/>
              </a:ext>
            </a:extLst>
          </p:cNvPr>
          <p:cNvSpPr>
            <a:spLocks xmlns:a="http://schemas.openxmlformats.org/drawingml/2006/main" noGrp="1"/>
          </p:cNvSpPr>
          <p:nvPr/>
        </p:nvSpPr>
        <p:spPr>
          <a:xfrm xmlns:a="http://schemas.openxmlformats.org/drawingml/2006/main">
            <a:off x="4076700" y="37814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68" name="">
            <a:extLst xmlns:a="http://schemas.openxmlformats.org/drawingml/2006/main">
              <a:ext uri="{FF2B5EF4-FFF2-40B4-BE49-F238E27FC236}">
                <a16:creationId xmlns:a16="http://schemas.microsoft.com/office/drawing/2014/main" id="{F9D6BC9F-00BD-418F-A313-5CA315A6D5EB}"/>
              </a:ext>
            </a:extLst>
          </p:cNvPr>
          <p:cNvSpPr>
            <a:spLocks xmlns:a="http://schemas.openxmlformats.org/drawingml/2006/main" noGrp="1"/>
          </p:cNvSpPr>
          <p:nvPr/>
        </p:nvSpPr>
        <p:spPr>
          <a:xfrm xmlns:a="http://schemas.openxmlformats.org/drawingml/2006/main">
            <a:off x="4191000" y="39052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75</a:t>
            </a:r>
          </a:p>
        </p:txBody>
      </p:sp>
      <p:sp>
        <p:nvSpPr>
          <p:cNvPr id="69" name="">
            <a:extLst xmlns:a="http://schemas.openxmlformats.org/drawingml/2006/main">
              <a:ext uri="{FF2B5EF4-FFF2-40B4-BE49-F238E27FC236}">
                <a16:creationId xmlns:a16="http://schemas.microsoft.com/office/drawing/2014/main" id="{E47C1F5D-070A-4916-8685-B1548EBFAAD9}"/>
              </a:ext>
            </a:extLst>
          </p:cNvPr>
          <p:cNvSpPr>
            <a:spLocks xmlns:a="http://schemas.openxmlformats.org/drawingml/2006/main" noGrp="1"/>
          </p:cNvSpPr>
          <p:nvPr/>
        </p:nvSpPr>
        <p:spPr>
          <a:xfrm xmlns:a="http://schemas.openxmlformats.org/drawingml/2006/main">
            <a:off x="4667250" y="3781425"/>
            <a:ext cx="34290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70" name="">
            <a:extLst xmlns:a="http://schemas.openxmlformats.org/drawingml/2006/main">
              <a:ext uri="{FF2B5EF4-FFF2-40B4-BE49-F238E27FC236}">
                <a16:creationId xmlns:a16="http://schemas.microsoft.com/office/drawing/2014/main" id="{EA940284-1454-4148-B51F-354620749136}"/>
              </a:ext>
            </a:extLst>
          </p:cNvPr>
          <p:cNvSpPr>
            <a:spLocks xmlns:a="http://schemas.openxmlformats.org/drawingml/2006/main" noGrp="1"/>
          </p:cNvSpPr>
          <p:nvPr/>
        </p:nvSpPr>
        <p:spPr>
          <a:xfrm xmlns:a="http://schemas.openxmlformats.org/drawingml/2006/main">
            <a:off x="4781550" y="3905250"/>
            <a:ext cx="3238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přechod mezi středním a starým věkem</a:t>
            </a:r>
          </a:p>
        </p:txBody>
      </p:sp>
      <p:sp>
        <p:nvSpPr>
          <p:cNvPr id="71" name="">
            <a:extLst xmlns:a="http://schemas.openxmlformats.org/drawingml/2006/main">
              <a:ext uri="{FF2B5EF4-FFF2-40B4-BE49-F238E27FC236}">
                <a16:creationId xmlns:a16="http://schemas.microsoft.com/office/drawing/2014/main" id="{7C34037B-EC96-4CC2-AC86-151C159DEB6A}"/>
              </a:ext>
            </a:extLst>
          </p:cNvPr>
          <p:cNvSpPr>
            <a:spLocks xmlns:a="http://schemas.openxmlformats.org/drawingml/2006/main" noGrp="1"/>
          </p:cNvSpPr>
          <p:nvPr/>
        </p:nvSpPr>
        <p:spPr>
          <a:xfrm xmlns:a="http://schemas.openxmlformats.org/drawingml/2006/main">
            <a:off x="685800" y="4238625"/>
            <a:ext cx="16192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72" name="">
            <a:extLst xmlns:a="http://schemas.openxmlformats.org/drawingml/2006/main">
              <a:ext uri="{FF2B5EF4-FFF2-40B4-BE49-F238E27FC236}">
                <a16:creationId xmlns:a16="http://schemas.microsoft.com/office/drawing/2014/main" id="{21C65058-1F48-4EB7-B8C2-B60C54E9A151}"/>
              </a:ext>
            </a:extLst>
          </p:cNvPr>
          <p:cNvSpPr>
            <a:spLocks xmlns:a="http://schemas.openxmlformats.org/drawingml/2006/main" noGrp="1"/>
          </p:cNvSpPr>
          <p:nvPr/>
        </p:nvSpPr>
        <p:spPr>
          <a:xfrm xmlns:a="http://schemas.openxmlformats.org/drawingml/2006/main">
            <a:off x="800100" y="4400550"/>
            <a:ext cx="114300" cy="114300"/>
          </a:xfrm>
          <a:prstGeom xmlns:a="http://schemas.openxmlformats.org/drawingml/2006/main" prst="ellipse">
            <a:avLst/>
          </a:prstGeom>
          <a:solidFill xmlns:a="http://schemas.openxmlformats.org/drawingml/2006/main">
            <a:srgbClr val="5E548E"/>
          </a:solidFill>
          <a:ln xmlns:a="http://schemas.openxmlformats.org/drawingml/2006/main" w="0">
            <a:solidFill>
              <a:srgbClr val="000000">
                <a:alpha val="0"/>
              </a:srgbClr>
            </a:solidFill>
            <a:prstDash val="solid"/>
          </a:ln>
        </p:spPr>
      </p:sp>
      <p:sp>
        <p:nvSpPr>
          <p:cNvPr id="73" name="">
            <a:extLst xmlns:a="http://schemas.openxmlformats.org/drawingml/2006/main">
              <a:ext uri="{FF2B5EF4-FFF2-40B4-BE49-F238E27FC236}">
                <a16:creationId xmlns:a16="http://schemas.microsoft.com/office/drawing/2014/main" id="{B6AEA741-2804-4404-B683-D87193B17853}"/>
              </a:ext>
            </a:extLst>
          </p:cNvPr>
          <p:cNvSpPr>
            <a:spLocks xmlns:a="http://schemas.openxmlformats.org/drawingml/2006/main" noGrp="1"/>
          </p:cNvSpPr>
          <p:nvPr/>
        </p:nvSpPr>
        <p:spPr>
          <a:xfrm xmlns:a="http://schemas.openxmlformats.org/drawingml/2006/main">
            <a:off x="1009650" y="4362450"/>
            <a:ext cx="1428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staří</a:t>
            </a:r>
          </a:p>
        </p:txBody>
      </p:sp>
      <p:sp>
        <p:nvSpPr>
          <p:cNvPr id="74" name="">
            <a:extLst xmlns:a="http://schemas.openxmlformats.org/drawingml/2006/main">
              <a:ext uri="{FF2B5EF4-FFF2-40B4-BE49-F238E27FC236}">
                <a16:creationId xmlns:a16="http://schemas.microsoft.com/office/drawing/2014/main" id="{5689FB4C-1141-4041-898A-5FB3529536D7}"/>
              </a:ext>
            </a:extLst>
          </p:cNvPr>
          <p:cNvSpPr>
            <a:spLocks xmlns:a="http://schemas.openxmlformats.org/drawingml/2006/main" noGrp="1"/>
          </p:cNvSpPr>
          <p:nvPr/>
        </p:nvSpPr>
        <p:spPr>
          <a:xfrm xmlns:a="http://schemas.openxmlformats.org/drawingml/2006/main">
            <a:off x="2305050" y="42386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75" name="">
            <a:extLst xmlns:a="http://schemas.openxmlformats.org/drawingml/2006/main">
              <a:ext uri="{FF2B5EF4-FFF2-40B4-BE49-F238E27FC236}">
                <a16:creationId xmlns:a16="http://schemas.microsoft.com/office/drawing/2014/main" id="{C4B08A1C-ADD4-4B7A-A570-F94BF437DF60}"/>
              </a:ext>
            </a:extLst>
          </p:cNvPr>
          <p:cNvSpPr>
            <a:spLocks xmlns:a="http://schemas.openxmlformats.org/drawingml/2006/main" noGrp="1"/>
          </p:cNvSpPr>
          <p:nvPr/>
        </p:nvSpPr>
        <p:spPr>
          <a:xfrm xmlns:a="http://schemas.openxmlformats.org/drawingml/2006/main">
            <a:off x="2419350" y="43624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65</a:t>
            </a:r>
          </a:p>
        </p:txBody>
      </p:sp>
      <p:sp>
        <p:nvSpPr>
          <p:cNvPr id="76" name="">
            <a:extLst xmlns:a="http://schemas.openxmlformats.org/drawingml/2006/main">
              <a:ext uri="{FF2B5EF4-FFF2-40B4-BE49-F238E27FC236}">
                <a16:creationId xmlns:a16="http://schemas.microsoft.com/office/drawing/2014/main" id="{59A6BFEC-1077-482F-9D45-A822205AE8F9}"/>
              </a:ext>
            </a:extLst>
          </p:cNvPr>
          <p:cNvSpPr>
            <a:spLocks xmlns:a="http://schemas.openxmlformats.org/drawingml/2006/main" noGrp="1"/>
          </p:cNvSpPr>
          <p:nvPr/>
        </p:nvSpPr>
        <p:spPr>
          <a:xfrm xmlns:a="http://schemas.openxmlformats.org/drawingml/2006/main">
            <a:off x="2895600" y="42386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77" name="">
            <a:extLst xmlns:a="http://schemas.openxmlformats.org/drawingml/2006/main">
              <a:ext uri="{FF2B5EF4-FFF2-40B4-BE49-F238E27FC236}">
                <a16:creationId xmlns:a16="http://schemas.microsoft.com/office/drawing/2014/main" id="{0856AB88-1B13-4AB8-A4F9-DCD6E05E5444}"/>
              </a:ext>
            </a:extLst>
          </p:cNvPr>
          <p:cNvSpPr>
            <a:spLocks xmlns:a="http://schemas.openxmlformats.org/drawingml/2006/main" noGrp="1"/>
          </p:cNvSpPr>
          <p:nvPr/>
        </p:nvSpPr>
        <p:spPr>
          <a:xfrm xmlns:a="http://schemas.openxmlformats.org/drawingml/2006/main">
            <a:off x="3009900" y="43624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75</a:t>
            </a:r>
          </a:p>
        </p:txBody>
      </p:sp>
      <p:sp>
        <p:nvSpPr>
          <p:cNvPr id="78" name="">
            <a:extLst xmlns:a="http://schemas.openxmlformats.org/drawingml/2006/main">
              <a:ext uri="{FF2B5EF4-FFF2-40B4-BE49-F238E27FC236}">
                <a16:creationId xmlns:a16="http://schemas.microsoft.com/office/drawing/2014/main" id="{CD37B535-5E2C-47C8-A3F3-B5C2B1FFFA58}"/>
              </a:ext>
            </a:extLst>
          </p:cNvPr>
          <p:cNvSpPr>
            <a:spLocks xmlns:a="http://schemas.openxmlformats.org/drawingml/2006/main" noGrp="1"/>
          </p:cNvSpPr>
          <p:nvPr/>
        </p:nvSpPr>
        <p:spPr>
          <a:xfrm xmlns:a="http://schemas.openxmlformats.org/drawingml/2006/main">
            <a:off x="3486150" y="42386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79" name="">
            <a:extLst xmlns:a="http://schemas.openxmlformats.org/drawingml/2006/main">
              <a:ext uri="{FF2B5EF4-FFF2-40B4-BE49-F238E27FC236}">
                <a16:creationId xmlns:a16="http://schemas.microsoft.com/office/drawing/2014/main" id="{F7C66D7B-449A-4BC0-897D-E3099462A143}"/>
              </a:ext>
            </a:extLst>
          </p:cNvPr>
          <p:cNvSpPr>
            <a:spLocks xmlns:a="http://schemas.openxmlformats.org/drawingml/2006/main" noGrp="1"/>
          </p:cNvSpPr>
          <p:nvPr/>
        </p:nvSpPr>
        <p:spPr>
          <a:xfrm xmlns:a="http://schemas.openxmlformats.org/drawingml/2006/main">
            <a:off x="3600450" y="43624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82</a:t>
            </a:r>
          </a:p>
        </p:txBody>
      </p:sp>
      <p:sp>
        <p:nvSpPr>
          <p:cNvPr id="80" name="">
            <a:extLst xmlns:a="http://schemas.openxmlformats.org/drawingml/2006/main">
              <a:ext uri="{FF2B5EF4-FFF2-40B4-BE49-F238E27FC236}">
                <a16:creationId xmlns:a16="http://schemas.microsoft.com/office/drawing/2014/main" id="{00766198-A913-418A-9C85-AE0480FC9905}"/>
              </a:ext>
            </a:extLst>
          </p:cNvPr>
          <p:cNvSpPr>
            <a:spLocks xmlns:a="http://schemas.openxmlformats.org/drawingml/2006/main" noGrp="1"/>
          </p:cNvSpPr>
          <p:nvPr/>
        </p:nvSpPr>
        <p:spPr>
          <a:xfrm xmlns:a="http://schemas.openxmlformats.org/drawingml/2006/main">
            <a:off x="4076700" y="42386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81" name="">
            <a:extLst xmlns:a="http://schemas.openxmlformats.org/drawingml/2006/main">
              <a:ext uri="{FF2B5EF4-FFF2-40B4-BE49-F238E27FC236}">
                <a16:creationId xmlns:a16="http://schemas.microsoft.com/office/drawing/2014/main" id="{0F4A7AE7-C0C8-45C9-8F38-4FC157DE0BD8}"/>
              </a:ext>
            </a:extLst>
          </p:cNvPr>
          <p:cNvSpPr>
            <a:spLocks xmlns:a="http://schemas.openxmlformats.org/drawingml/2006/main" noGrp="1"/>
          </p:cNvSpPr>
          <p:nvPr/>
        </p:nvSpPr>
        <p:spPr>
          <a:xfrm xmlns:a="http://schemas.openxmlformats.org/drawingml/2006/main">
            <a:off x="4191000" y="43624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90</a:t>
            </a:r>
          </a:p>
        </p:txBody>
      </p:sp>
      <p:sp>
        <p:nvSpPr>
          <p:cNvPr id="82" name="">
            <a:extLst xmlns:a="http://schemas.openxmlformats.org/drawingml/2006/main">
              <a:ext uri="{FF2B5EF4-FFF2-40B4-BE49-F238E27FC236}">
                <a16:creationId xmlns:a16="http://schemas.microsoft.com/office/drawing/2014/main" id="{D0037FC4-933F-432A-8B52-3EB5FEE70406}"/>
              </a:ext>
            </a:extLst>
          </p:cNvPr>
          <p:cNvSpPr>
            <a:spLocks xmlns:a="http://schemas.openxmlformats.org/drawingml/2006/main" noGrp="1"/>
          </p:cNvSpPr>
          <p:nvPr/>
        </p:nvSpPr>
        <p:spPr>
          <a:xfrm xmlns:a="http://schemas.openxmlformats.org/drawingml/2006/main">
            <a:off x="4667250" y="4238625"/>
            <a:ext cx="34290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83" name="">
            <a:extLst xmlns:a="http://schemas.openxmlformats.org/drawingml/2006/main">
              <a:ext uri="{FF2B5EF4-FFF2-40B4-BE49-F238E27FC236}">
                <a16:creationId xmlns:a16="http://schemas.microsoft.com/office/drawing/2014/main" id="{EB858735-2578-444F-855A-BCFAC20AF1C6}"/>
              </a:ext>
            </a:extLst>
          </p:cNvPr>
          <p:cNvSpPr>
            <a:spLocks xmlns:a="http://schemas.openxmlformats.org/drawingml/2006/main" noGrp="1"/>
          </p:cNvSpPr>
          <p:nvPr/>
        </p:nvSpPr>
        <p:spPr>
          <a:xfrm xmlns:a="http://schemas.openxmlformats.org/drawingml/2006/main">
            <a:off x="4781550" y="4362450"/>
            <a:ext cx="3238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starý věk s přechodem k nejstarším</a:t>
            </a:r>
          </a:p>
        </p:txBody>
      </p:sp>
      <p:sp>
        <p:nvSpPr>
          <p:cNvPr id="84" name="">
            <a:extLst xmlns:a="http://schemas.openxmlformats.org/drawingml/2006/main">
              <a:ext uri="{FF2B5EF4-FFF2-40B4-BE49-F238E27FC236}">
                <a16:creationId xmlns:a16="http://schemas.microsoft.com/office/drawing/2014/main" id="{25AA63D8-CF47-415E-AB72-6FFFB995BBFE}"/>
              </a:ext>
            </a:extLst>
          </p:cNvPr>
          <p:cNvSpPr>
            <a:spLocks xmlns:a="http://schemas.openxmlformats.org/drawingml/2006/main" noGrp="1"/>
          </p:cNvSpPr>
          <p:nvPr/>
        </p:nvSpPr>
        <p:spPr>
          <a:xfrm xmlns:a="http://schemas.openxmlformats.org/drawingml/2006/main">
            <a:off x="685800" y="4695825"/>
            <a:ext cx="16192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85" name="">
            <a:extLst xmlns:a="http://schemas.openxmlformats.org/drawingml/2006/main">
              <a:ext uri="{FF2B5EF4-FFF2-40B4-BE49-F238E27FC236}">
                <a16:creationId xmlns:a16="http://schemas.microsoft.com/office/drawing/2014/main" id="{8663CE78-5CC3-4840-8F15-E987D68FC367}"/>
              </a:ext>
            </a:extLst>
          </p:cNvPr>
          <p:cNvSpPr>
            <a:spLocks xmlns:a="http://schemas.openxmlformats.org/drawingml/2006/main" noGrp="1"/>
          </p:cNvSpPr>
          <p:nvPr/>
        </p:nvSpPr>
        <p:spPr>
          <a:xfrm xmlns:a="http://schemas.openxmlformats.org/drawingml/2006/main">
            <a:off x="800100" y="4857750"/>
            <a:ext cx="114300" cy="114300"/>
          </a:xfrm>
          <a:prstGeom xmlns:a="http://schemas.openxmlformats.org/drawingml/2006/main" prst="ellipse">
            <a:avLst/>
          </a:prstGeom>
          <a:solidFill xmlns:a="http://schemas.openxmlformats.org/drawingml/2006/main">
            <a:srgbClr val="8F2D56"/>
          </a:solidFill>
          <a:ln xmlns:a="http://schemas.openxmlformats.org/drawingml/2006/main" w="0">
            <a:solidFill>
              <a:srgbClr val="000000">
                <a:alpha val="0"/>
              </a:srgbClr>
            </a:solidFill>
            <a:prstDash val="solid"/>
          </a:ln>
        </p:spPr>
      </p:sp>
      <p:sp>
        <p:nvSpPr>
          <p:cNvPr id="86" name="">
            <a:extLst xmlns:a="http://schemas.openxmlformats.org/drawingml/2006/main">
              <a:ext uri="{FF2B5EF4-FFF2-40B4-BE49-F238E27FC236}">
                <a16:creationId xmlns:a16="http://schemas.microsoft.com/office/drawing/2014/main" id="{43495CCE-FD27-4465-B83D-BF84A2952DDF}"/>
              </a:ext>
            </a:extLst>
          </p:cNvPr>
          <p:cNvSpPr>
            <a:spLocks xmlns:a="http://schemas.openxmlformats.org/drawingml/2006/main" noGrp="1"/>
          </p:cNvSpPr>
          <p:nvPr/>
        </p:nvSpPr>
        <p:spPr>
          <a:xfrm xmlns:a="http://schemas.openxmlformats.org/drawingml/2006/main">
            <a:off x="1009650" y="4819650"/>
            <a:ext cx="1428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nejstarší</a:t>
            </a:r>
          </a:p>
        </p:txBody>
      </p:sp>
      <p:sp>
        <p:nvSpPr>
          <p:cNvPr id="87" name="">
            <a:extLst xmlns:a="http://schemas.openxmlformats.org/drawingml/2006/main">
              <a:ext uri="{FF2B5EF4-FFF2-40B4-BE49-F238E27FC236}">
                <a16:creationId xmlns:a16="http://schemas.microsoft.com/office/drawing/2014/main" id="{B5A32236-C42A-40C2-B535-6B84FD42EAEA}"/>
              </a:ext>
            </a:extLst>
          </p:cNvPr>
          <p:cNvSpPr>
            <a:spLocks xmlns:a="http://schemas.openxmlformats.org/drawingml/2006/main" noGrp="1"/>
          </p:cNvSpPr>
          <p:nvPr/>
        </p:nvSpPr>
        <p:spPr>
          <a:xfrm xmlns:a="http://schemas.openxmlformats.org/drawingml/2006/main">
            <a:off x="2305050" y="46958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88" name="">
            <a:extLst xmlns:a="http://schemas.openxmlformats.org/drawingml/2006/main">
              <a:ext uri="{FF2B5EF4-FFF2-40B4-BE49-F238E27FC236}">
                <a16:creationId xmlns:a16="http://schemas.microsoft.com/office/drawing/2014/main" id="{77FA739D-EFCC-4972-9274-61E191452BEA}"/>
              </a:ext>
            </a:extLst>
          </p:cNvPr>
          <p:cNvSpPr>
            <a:spLocks xmlns:a="http://schemas.openxmlformats.org/drawingml/2006/main" noGrp="1"/>
          </p:cNvSpPr>
          <p:nvPr/>
        </p:nvSpPr>
        <p:spPr>
          <a:xfrm xmlns:a="http://schemas.openxmlformats.org/drawingml/2006/main">
            <a:off x="2419350" y="48196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80</a:t>
            </a:r>
          </a:p>
        </p:txBody>
      </p:sp>
      <p:sp>
        <p:nvSpPr>
          <p:cNvPr id="89" name="">
            <a:extLst xmlns:a="http://schemas.openxmlformats.org/drawingml/2006/main">
              <a:ext uri="{FF2B5EF4-FFF2-40B4-BE49-F238E27FC236}">
                <a16:creationId xmlns:a16="http://schemas.microsoft.com/office/drawing/2014/main" id="{CEA2E584-C8EC-4425-AC03-8D835071844E}"/>
              </a:ext>
            </a:extLst>
          </p:cNvPr>
          <p:cNvSpPr>
            <a:spLocks xmlns:a="http://schemas.openxmlformats.org/drawingml/2006/main" noGrp="1"/>
          </p:cNvSpPr>
          <p:nvPr/>
        </p:nvSpPr>
        <p:spPr>
          <a:xfrm xmlns:a="http://schemas.openxmlformats.org/drawingml/2006/main">
            <a:off x="2895600" y="46958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90" name="">
            <a:extLst xmlns:a="http://schemas.openxmlformats.org/drawingml/2006/main">
              <a:ext uri="{FF2B5EF4-FFF2-40B4-BE49-F238E27FC236}">
                <a16:creationId xmlns:a16="http://schemas.microsoft.com/office/drawing/2014/main" id="{D611144D-9D08-4613-B86E-62377BB84C27}"/>
              </a:ext>
            </a:extLst>
          </p:cNvPr>
          <p:cNvSpPr>
            <a:spLocks xmlns:a="http://schemas.openxmlformats.org/drawingml/2006/main" noGrp="1"/>
          </p:cNvSpPr>
          <p:nvPr/>
        </p:nvSpPr>
        <p:spPr>
          <a:xfrm xmlns:a="http://schemas.openxmlformats.org/drawingml/2006/main">
            <a:off x="3009900" y="48196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90</a:t>
            </a:r>
          </a:p>
        </p:txBody>
      </p:sp>
      <p:sp>
        <p:nvSpPr>
          <p:cNvPr id="91" name="">
            <a:extLst xmlns:a="http://schemas.openxmlformats.org/drawingml/2006/main">
              <a:ext uri="{FF2B5EF4-FFF2-40B4-BE49-F238E27FC236}">
                <a16:creationId xmlns:a16="http://schemas.microsoft.com/office/drawing/2014/main" id="{BF6DF282-ADBD-4D44-B79D-4EEB48BD7306}"/>
              </a:ext>
            </a:extLst>
          </p:cNvPr>
          <p:cNvSpPr>
            <a:spLocks xmlns:a="http://schemas.openxmlformats.org/drawingml/2006/main" noGrp="1"/>
          </p:cNvSpPr>
          <p:nvPr/>
        </p:nvSpPr>
        <p:spPr>
          <a:xfrm xmlns:a="http://schemas.openxmlformats.org/drawingml/2006/main">
            <a:off x="3486150" y="46958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92" name="">
            <a:extLst xmlns:a="http://schemas.openxmlformats.org/drawingml/2006/main">
              <a:ext uri="{FF2B5EF4-FFF2-40B4-BE49-F238E27FC236}">
                <a16:creationId xmlns:a16="http://schemas.microsoft.com/office/drawing/2014/main" id="{317D1770-C243-40E6-8887-9AF0E8D58228}"/>
              </a:ext>
            </a:extLst>
          </p:cNvPr>
          <p:cNvSpPr>
            <a:spLocks xmlns:a="http://schemas.openxmlformats.org/drawingml/2006/main" noGrp="1"/>
          </p:cNvSpPr>
          <p:nvPr/>
        </p:nvSpPr>
        <p:spPr>
          <a:xfrm xmlns:a="http://schemas.openxmlformats.org/drawingml/2006/main">
            <a:off x="3600450" y="48196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100</a:t>
            </a:r>
          </a:p>
        </p:txBody>
      </p:sp>
      <p:sp>
        <p:nvSpPr>
          <p:cNvPr id="93" name="">
            <a:extLst xmlns:a="http://schemas.openxmlformats.org/drawingml/2006/main">
              <a:ext uri="{FF2B5EF4-FFF2-40B4-BE49-F238E27FC236}">
                <a16:creationId xmlns:a16="http://schemas.microsoft.com/office/drawing/2014/main" id="{40013FFE-05F4-4316-9D39-47B96C11D5E9}"/>
              </a:ext>
            </a:extLst>
          </p:cNvPr>
          <p:cNvSpPr>
            <a:spLocks xmlns:a="http://schemas.openxmlformats.org/drawingml/2006/main" noGrp="1"/>
          </p:cNvSpPr>
          <p:nvPr/>
        </p:nvSpPr>
        <p:spPr>
          <a:xfrm xmlns:a="http://schemas.openxmlformats.org/drawingml/2006/main">
            <a:off x="4076700" y="4695825"/>
            <a:ext cx="5905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94" name="">
            <a:extLst xmlns:a="http://schemas.openxmlformats.org/drawingml/2006/main">
              <a:ext uri="{FF2B5EF4-FFF2-40B4-BE49-F238E27FC236}">
                <a16:creationId xmlns:a16="http://schemas.microsoft.com/office/drawing/2014/main" id="{F0BF3E49-8029-469D-B557-E4C60FE99C4A}"/>
              </a:ext>
            </a:extLst>
          </p:cNvPr>
          <p:cNvSpPr>
            <a:spLocks xmlns:a="http://schemas.openxmlformats.org/drawingml/2006/main" noGrp="1"/>
          </p:cNvSpPr>
          <p:nvPr/>
        </p:nvSpPr>
        <p:spPr>
          <a:xfrm xmlns:a="http://schemas.openxmlformats.org/drawingml/2006/main">
            <a:off x="4191000" y="4819650"/>
            <a:ext cx="4000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100</a:t>
            </a:r>
          </a:p>
        </p:txBody>
      </p:sp>
      <p:sp>
        <p:nvSpPr>
          <p:cNvPr id="95" name="">
            <a:extLst xmlns:a="http://schemas.openxmlformats.org/drawingml/2006/main">
              <a:ext uri="{FF2B5EF4-FFF2-40B4-BE49-F238E27FC236}">
                <a16:creationId xmlns:a16="http://schemas.microsoft.com/office/drawing/2014/main" id="{9032C531-7B52-48C7-BD13-3970477DD99E}"/>
              </a:ext>
            </a:extLst>
          </p:cNvPr>
          <p:cNvSpPr>
            <a:spLocks xmlns:a="http://schemas.openxmlformats.org/drawingml/2006/main" noGrp="1"/>
          </p:cNvSpPr>
          <p:nvPr/>
        </p:nvSpPr>
        <p:spPr>
          <a:xfrm xmlns:a="http://schemas.openxmlformats.org/drawingml/2006/main">
            <a:off x="4667250" y="4695825"/>
            <a:ext cx="34290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96" name="">
            <a:extLst xmlns:a="http://schemas.openxmlformats.org/drawingml/2006/main">
              <a:ext uri="{FF2B5EF4-FFF2-40B4-BE49-F238E27FC236}">
                <a16:creationId xmlns:a16="http://schemas.microsoft.com/office/drawing/2014/main" id="{99D6A23A-74FC-4DAB-BBB4-8F31609A7ACD}"/>
              </a:ext>
            </a:extLst>
          </p:cNvPr>
          <p:cNvSpPr>
            <a:spLocks xmlns:a="http://schemas.openxmlformats.org/drawingml/2006/main" noGrp="1"/>
          </p:cNvSpPr>
          <p:nvPr/>
        </p:nvSpPr>
        <p:spPr>
          <a:xfrm xmlns:a="http://schemas.openxmlformats.org/drawingml/2006/main">
            <a:off x="4781550" y="4819650"/>
            <a:ext cx="3238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12B"/>
                </a:solidFill>
                <a:latin typeface="Aptos"/>
                <a:ea typeface="Aptos"/>
                <a:cs typeface="Aptos"/>
              </a:defRPr>
            </a:pPr>
            <a:r>
              <a:rPr sz="1050" b="0">
                <a:solidFill>
                  <a:srgbClr val="17212B"/>
                </a:solidFill>
                <a:latin typeface="Aptos"/>
                <a:ea typeface="Aptos"/>
                <a:cs typeface="Aptos"/>
              </a:rPr>
              <a:t>nejvyšší věková kategorie</a:t>
            </a:r>
          </a:p>
        </p:txBody>
      </p:sp>
    </p:spTree>
    <p:extLst>
      <p:ext uri="{BB962C8B-B14F-4D97-AF65-F5344CB8AC3E}">
        <p14:creationId xmlns:p14="http://schemas.microsoft.com/office/powerpoint/2010/main" val="93137546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66D0AF9-5F9B-47EA-8E6D-39EAF8CE51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9"/>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9D2FFE8-5C4A-4C5B-8CA8-FEA4E8ED7165}"/>
              </a:ext>
            </a:extLst>
          </p:cNvPr>
          <p:cNvSpPr>
            <a:spLocks xmlns:a="http://schemas.openxmlformats.org/drawingml/2006/main" noGrp="1"/>
          </p:cNvSpPr>
          <p:nvPr/>
        </p:nvSpPr>
        <p:spPr>
          <a:xfrm xmlns:a="http://schemas.openxmlformats.org/drawingml/2006/main">
            <a:off x="0" y="0"/>
            <a:ext cx="12192000" cy="838200"/>
          </a:xfrm>
          <a:prstGeom xmlns:a="http://schemas.openxmlformats.org/drawingml/2006/main" prst="rect">
            <a:avLst/>
          </a:prstGeom>
          <a:solidFill xmlns:a="http://schemas.openxmlformats.org/drawingml/2006/main">
            <a:srgbClr val="24465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81806CB-8548-4F87-89B7-87009D87207F}"/>
              </a:ext>
            </a:extLst>
          </p:cNvPr>
          <p:cNvSpPr>
            <a:spLocks xmlns:a="http://schemas.openxmlformats.org/drawingml/2006/main" noGrp="1"/>
          </p:cNvSpPr>
          <p:nvPr/>
        </p:nvSpPr>
        <p:spPr>
          <a:xfrm xmlns:a="http://schemas.openxmlformats.org/drawingml/2006/main">
            <a:off x="609600" y="266700"/>
            <a:ext cx="5143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Fuzzy věkové rozdělení</a:t>
            </a:r>
          </a:p>
        </p:txBody>
      </p:sp>
      <p:sp>
        <p:nvSpPr>
          <p:cNvPr id="4" name="">
            <a:extLst xmlns:a="http://schemas.openxmlformats.org/drawingml/2006/main">
              <a:ext uri="{FF2B5EF4-FFF2-40B4-BE49-F238E27FC236}">
                <a16:creationId xmlns:a16="http://schemas.microsoft.com/office/drawing/2014/main" id="{6A6FAA38-36D6-4EAC-9E3A-17680C1491B5}"/>
              </a:ext>
            </a:extLst>
          </p:cNvPr>
          <p:cNvSpPr>
            <a:spLocks xmlns:a="http://schemas.openxmlformats.org/drawingml/2006/main" noGrp="1"/>
          </p:cNvSpPr>
          <p:nvPr/>
        </p:nvSpPr>
        <p:spPr>
          <a:xfrm xmlns:a="http://schemas.openxmlformats.org/drawingml/2006/main">
            <a:off x="11049000" y="266700"/>
            <a:ext cx="571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FFFFFF"/>
                </a:solidFill>
                <a:latin typeface="Aptos"/>
                <a:ea typeface="Aptos"/>
                <a:cs typeface="Aptos"/>
              </a:defRPr>
            </a:pPr>
            <a:r>
              <a:rPr sz="1200" b="1">
                <a:solidFill>
                  <a:srgbClr val="FFFFFF"/>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2714A3CC-EC1B-4383-BEBF-E090379DECE8}"/>
              </a:ext>
            </a:extLst>
          </p:cNvPr>
          <p:cNvSpPr>
            <a:spLocks xmlns:a="http://schemas.openxmlformats.org/drawingml/2006/main" noGrp="1"/>
          </p:cNvSpPr>
          <p:nvPr/>
        </p:nvSpPr>
        <p:spPr>
          <a:xfrm xmlns:a="http://schemas.openxmlformats.org/drawingml/2006/main">
            <a:off x="609600" y="1143000"/>
            <a:ext cx="8763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550" b="1">
                <a:solidFill>
                  <a:srgbClr val="17212B"/>
                </a:solidFill>
                <a:latin typeface="Aptos Display"/>
                <a:ea typeface="Aptos Display"/>
                <a:cs typeface="Aptos Display"/>
              </a:defRPr>
            </a:pPr>
            <a:r>
              <a:rPr sz="2550" b="1">
                <a:solidFill>
                  <a:srgbClr val="17212B"/>
                </a:solidFill>
                <a:latin typeface="Aptos Display"/>
                <a:ea typeface="Aptos Display"/>
                <a:cs typeface="Aptos Display"/>
              </a:rPr>
              <a:t>Funkce příslušnosti</a:t>
            </a:r>
          </a:p>
        </p:txBody>
      </p:sp>
      <p:sp>
        <p:nvSpPr>
          <p:cNvPr id="6" name="">
            <a:extLst xmlns:a="http://schemas.openxmlformats.org/drawingml/2006/main">
              <a:ext uri="{FF2B5EF4-FFF2-40B4-BE49-F238E27FC236}">
                <a16:creationId xmlns:a16="http://schemas.microsoft.com/office/drawing/2014/main" id="{CBD2485F-2B94-4706-8130-AE532A892B84}"/>
              </a:ext>
            </a:extLst>
          </p:cNvPr>
          <p:cNvSpPr>
            <a:spLocks xmlns:a="http://schemas.openxmlformats.org/drawingml/2006/main" noGrp="1"/>
          </p:cNvSpPr>
          <p:nvPr/>
        </p:nvSpPr>
        <p:spPr>
          <a:xfrm xmlns:a="http://schemas.openxmlformats.org/drawingml/2006/main">
            <a:off x="838200" y="2200275"/>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F304CBE1-4C16-4975-BFF0-F705DA4371F8}"/>
              </a:ext>
            </a:extLst>
          </p:cNvPr>
          <p:cNvSpPr>
            <a:spLocks xmlns:a="http://schemas.openxmlformats.org/drawingml/2006/main" noGrp="1"/>
          </p:cNvSpPr>
          <p:nvPr/>
        </p:nvSpPr>
        <p:spPr>
          <a:xfrm xmlns:a="http://schemas.openxmlformats.org/drawingml/2006/main">
            <a:off x="1104900" y="2114550"/>
            <a:ext cx="6572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0">
                <a:solidFill>
                  <a:srgbClr val="17212B"/>
                </a:solidFill>
                <a:latin typeface="Aptos"/>
                <a:ea typeface="Aptos"/>
                <a:cs typeface="Aptos"/>
              </a:defRPr>
            </a:pPr>
            <a:r>
              <a:rPr sz="1725" b="0">
                <a:solidFill>
                  <a:srgbClr val="17212B"/>
                </a:solidFill>
                <a:latin typeface="Aptos"/>
                <a:ea typeface="Aptos"/>
                <a:cs typeface="Aptos"/>
              </a:rPr>
              <a:t>Použil jsem lichoběžníkové funkce.</a:t>
            </a:r>
          </a:p>
        </p:txBody>
      </p:sp>
      <p:sp>
        <p:nvSpPr>
          <p:cNvPr id="8" name="">
            <a:extLst xmlns:a="http://schemas.openxmlformats.org/drawingml/2006/main">
              <a:ext uri="{FF2B5EF4-FFF2-40B4-BE49-F238E27FC236}">
                <a16:creationId xmlns:a16="http://schemas.microsoft.com/office/drawing/2014/main" id="{CC4443DC-7033-4396-9724-4DC04CD5C582}"/>
              </a:ext>
            </a:extLst>
          </p:cNvPr>
          <p:cNvSpPr>
            <a:spLocks xmlns:a="http://schemas.openxmlformats.org/drawingml/2006/main" noGrp="1"/>
          </p:cNvSpPr>
          <p:nvPr/>
        </p:nvSpPr>
        <p:spPr>
          <a:xfrm xmlns:a="http://schemas.openxmlformats.org/drawingml/2006/main">
            <a:off x="838200" y="2771775"/>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906398A-6FCF-49C5-8442-60BCC62BE581}"/>
              </a:ext>
            </a:extLst>
          </p:cNvPr>
          <p:cNvSpPr>
            <a:spLocks xmlns:a="http://schemas.openxmlformats.org/drawingml/2006/main" noGrp="1"/>
          </p:cNvSpPr>
          <p:nvPr/>
        </p:nvSpPr>
        <p:spPr>
          <a:xfrm xmlns:a="http://schemas.openxmlformats.org/drawingml/2006/main">
            <a:off x="1104900" y="2686050"/>
            <a:ext cx="6572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0">
                <a:solidFill>
                  <a:srgbClr val="17212B"/>
                </a:solidFill>
                <a:latin typeface="Aptos"/>
                <a:ea typeface="Aptos"/>
                <a:cs typeface="Aptos"/>
              </a:defRPr>
            </a:pPr>
            <a:r>
              <a:rPr sz="1725" b="0">
                <a:solidFill>
                  <a:srgbClr val="17212B"/>
                </a:solidFill>
                <a:latin typeface="Aptos"/>
                <a:ea typeface="Aptos"/>
                <a:cs typeface="Aptos"/>
              </a:rPr>
              <a:t>Každá kategorie má plynulý náběh, část plné příslušnosti a plynulý pokles.</a:t>
            </a:r>
          </a:p>
        </p:txBody>
      </p:sp>
      <p:sp>
        <p:nvSpPr>
          <p:cNvPr id="10" name="">
            <a:extLst xmlns:a="http://schemas.openxmlformats.org/drawingml/2006/main">
              <a:ext uri="{FF2B5EF4-FFF2-40B4-BE49-F238E27FC236}">
                <a16:creationId xmlns:a16="http://schemas.microsoft.com/office/drawing/2014/main" id="{A53B0C95-4F08-405D-89C7-CD3FD3E9C8E2}"/>
              </a:ext>
            </a:extLst>
          </p:cNvPr>
          <p:cNvSpPr>
            <a:spLocks xmlns:a="http://schemas.openxmlformats.org/drawingml/2006/main" noGrp="1"/>
          </p:cNvSpPr>
          <p:nvPr/>
        </p:nvSpPr>
        <p:spPr>
          <a:xfrm xmlns:a="http://schemas.openxmlformats.org/drawingml/2006/main">
            <a:off x="838200" y="3343275"/>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26A34E5D-98EE-4EA7-A9CD-B66D917B8306}"/>
              </a:ext>
            </a:extLst>
          </p:cNvPr>
          <p:cNvSpPr>
            <a:spLocks xmlns:a="http://schemas.openxmlformats.org/drawingml/2006/main" noGrp="1"/>
          </p:cNvSpPr>
          <p:nvPr/>
        </p:nvSpPr>
        <p:spPr>
          <a:xfrm xmlns:a="http://schemas.openxmlformats.org/drawingml/2006/main">
            <a:off x="1104900" y="3257550"/>
            <a:ext cx="6572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0">
                <a:solidFill>
                  <a:srgbClr val="17212B"/>
                </a:solidFill>
                <a:latin typeface="Aptos"/>
                <a:ea typeface="Aptos"/>
                <a:cs typeface="Aptos"/>
              </a:defRPr>
            </a:pPr>
            <a:r>
              <a:rPr sz="1725" b="0">
                <a:solidFill>
                  <a:srgbClr val="17212B"/>
                </a:solidFill>
                <a:latin typeface="Aptos"/>
                <a:ea typeface="Aptos"/>
                <a:cs typeface="Aptos"/>
              </a:rPr>
              <a:t>Překryvy mezi sousedními kategoriemi jsou záměrné.</a:t>
            </a:r>
          </a:p>
        </p:txBody>
      </p:sp>
      <p:sp>
        <p:nvSpPr>
          <p:cNvPr id="12" name="">
            <a:extLst xmlns:a="http://schemas.openxmlformats.org/drawingml/2006/main">
              <a:ext uri="{FF2B5EF4-FFF2-40B4-BE49-F238E27FC236}">
                <a16:creationId xmlns:a16="http://schemas.microsoft.com/office/drawing/2014/main" id="{CA071873-A919-46E1-845A-FD118E542C51}"/>
              </a:ext>
            </a:extLst>
          </p:cNvPr>
          <p:cNvSpPr>
            <a:spLocks xmlns:a="http://schemas.openxmlformats.org/drawingml/2006/main" noGrp="1"/>
          </p:cNvSpPr>
          <p:nvPr/>
        </p:nvSpPr>
        <p:spPr>
          <a:xfrm xmlns:a="http://schemas.openxmlformats.org/drawingml/2006/main">
            <a:off x="7810500" y="2000250"/>
            <a:ext cx="3162300"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13" name="">
            <a:extLst xmlns:a="http://schemas.openxmlformats.org/drawingml/2006/main">
              <a:ext uri="{FF2B5EF4-FFF2-40B4-BE49-F238E27FC236}">
                <a16:creationId xmlns:a16="http://schemas.microsoft.com/office/drawing/2014/main" id="{D28DC282-0E46-4E86-975F-A7734A42454F}"/>
              </a:ext>
            </a:extLst>
          </p:cNvPr>
          <p:cNvSpPr>
            <a:spLocks xmlns:a="http://schemas.openxmlformats.org/drawingml/2006/main" noGrp="1"/>
          </p:cNvSpPr>
          <p:nvPr/>
        </p:nvSpPr>
        <p:spPr>
          <a:xfrm xmlns:a="http://schemas.openxmlformats.org/drawingml/2006/main">
            <a:off x="8115300" y="230505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800" b="1">
                <a:solidFill>
                  <a:srgbClr val="17212B"/>
                </a:solidFill>
                <a:latin typeface="Aptos"/>
                <a:ea typeface="Aptos"/>
                <a:cs typeface="Aptos"/>
              </a:defRPr>
            </a:pPr>
            <a:r>
              <a:rPr sz="1800" b="1">
                <a:solidFill>
                  <a:srgbClr val="17212B"/>
                </a:solidFill>
                <a:latin typeface="Aptos"/>
                <a:ea typeface="Aptos"/>
                <a:cs typeface="Aptos"/>
              </a:rPr>
              <a:t>Lichoběžníková funkce</a:t>
            </a:r>
          </a:p>
        </p:txBody>
      </p:sp>
      <p:sp>
        <p:nvSpPr>
          <p:cNvPr id="14" name="">
            <a:extLst xmlns:a="http://schemas.openxmlformats.org/drawingml/2006/main">
              <a:ext uri="{FF2B5EF4-FFF2-40B4-BE49-F238E27FC236}">
                <a16:creationId xmlns:a16="http://schemas.microsoft.com/office/drawing/2014/main" id="{9C8AA844-D032-4701-A24C-7361130228B5}"/>
              </a:ext>
            </a:extLst>
          </p:cNvPr>
          <p:cNvSpPr>
            <a:spLocks xmlns:a="http://schemas.openxmlformats.org/drawingml/2006/main" noGrp="1"/>
          </p:cNvSpPr>
          <p:nvPr/>
        </p:nvSpPr>
        <p:spPr>
          <a:xfrm xmlns:a="http://schemas.openxmlformats.org/drawingml/2006/main">
            <a:off x="8115300" y="2990850"/>
            <a:ext cx="6858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650" b="1">
                <a:solidFill>
                  <a:srgbClr val="00798C"/>
                </a:solidFill>
                <a:latin typeface="Aptos"/>
                <a:ea typeface="Aptos"/>
                <a:cs typeface="Aptos"/>
              </a:defRPr>
            </a:pPr>
            <a:r>
              <a:rPr sz="1650" b="1">
                <a:solidFill>
                  <a:srgbClr val="00798C"/>
                </a:solidFill>
                <a:latin typeface="Aptos"/>
                <a:ea typeface="Aptos"/>
                <a:cs typeface="Aptos"/>
              </a:rPr>
              <a:t>0 → 1</a:t>
            </a:r>
          </a:p>
          <a:p xmlns:a="http://schemas.openxmlformats.org/drawingml/2006/main">
            <a:pPr algn="ctr">
              <a:buNone/>
              <a:defRPr sz="1650" b="1">
                <a:solidFill>
                  <a:srgbClr val="00798C"/>
                </a:solidFill>
                <a:latin typeface="Aptos"/>
                <a:ea typeface="Aptos"/>
                <a:cs typeface="Aptos"/>
              </a:defRPr>
            </a:pPr>
            <a:r>
              <a:rPr sz="1650" b="1">
                <a:solidFill>
                  <a:srgbClr val="00798C"/>
                </a:solidFill>
                <a:latin typeface="Aptos"/>
                <a:ea typeface="Aptos"/>
                <a:cs typeface="Aptos"/>
              </a:rPr>
              <a:t>náběh</a:t>
            </a:r>
          </a:p>
        </p:txBody>
      </p:sp>
      <p:sp>
        <p:nvSpPr>
          <p:cNvPr id="15" name="">
            <a:extLst xmlns:a="http://schemas.openxmlformats.org/drawingml/2006/main">
              <a:ext uri="{FF2B5EF4-FFF2-40B4-BE49-F238E27FC236}">
                <a16:creationId xmlns:a16="http://schemas.microsoft.com/office/drawing/2014/main" id="{E1F07FAD-DCD9-40D1-9DBC-16DE3CF0A695}"/>
              </a:ext>
            </a:extLst>
          </p:cNvPr>
          <p:cNvSpPr>
            <a:spLocks xmlns:a="http://schemas.openxmlformats.org/drawingml/2006/main" noGrp="1"/>
          </p:cNvSpPr>
          <p:nvPr/>
        </p:nvSpPr>
        <p:spPr>
          <a:xfrm xmlns:a="http://schemas.openxmlformats.org/drawingml/2006/main">
            <a:off x="8991600" y="2819400"/>
            <a:ext cx="10668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650" b="1">
                <a:solidFill>
                  <a:srgbClr val="3A7D44"/>
                </a:solidFill>
                <a:latin typeface="Aptos"/>
                <a:ea typeface="Aptos"/>
                <a:cs typeface="Aptos"/>
              </a:defRPr>
            </a:pPr>
            <a:r>
              <a:rPr sz="1650" b="1">
                <a:solidFill>
                  <a:srgbClr val="3A7D44"/>
                </a:solidFill>
                <a:latin typeface="Aptos"/>
                <a:ea typeface="Aptos"/>
                <a:cs typeface="Aptos"/>
              </a:rPr>
              <a:t>1</a:t>
            </a:r>
          </a:p>
          <a:p xmlns:a="http://schemas.openxmlformats.org/drawingml/2006/main">
            <a:pPr algn="ctr">
              <a:buNone/>
              <a:defRPr sz="1650" b="1">
                <a:solidFill>
                  <a:srgbClr val="3A7D44"/>
                </a:solidFill>
                <a:latin typeface="Aptos"/>
                <a:ea typeface="Aptos"/>
                <a:cs typeface="Aptos"/>
              </a:defRPr>
            </a:pPr>
            <a:r>
              <a:rPr sz="1650" b="1">
                <a:solidFill>
                  <a:srgbClr val="3A7D44"/>
                </a:solidFill>
                <a:latin typeface="Aptos"/>
                <a:ea typeface="Aptos"/>
                <a:cs typeface="Aptos"/>
              </a:rPr>
              <a:t>plná příslušnost</a:t>
            </a:r>
          </a:p>
        </p:txBody>
      </p:sp>
      <p:sp>
        <p:nvSpPr>
          <p:cNvPr id="16" name="">
            <a:extLst xmlns:a="http://schemas.openxmlformats.org/drawingml/2006/main">
              <a:ext uri="{FF2B5EF4-FFF2-40B4-BE49-F238E27FC236}">
                <a16:creationId xmlns:a16="http://schemas.microsoft.com/office/drawing/2014/main" id="{B49C3E5C-863D-48D5-A2E8-B7E2462CE4C9}"/>
              </a:ext>
            </a:extLst>
          </p:cNvPr>
          <p:cNvSpPr>
            <a:spLocks xmlns:a="http://schemas.openxmlformats.org/drawingml/2006/main" noGrp="1"/>
          </p:cNvSpPr>
          <p:nvPr/>
        </p:nvSpPr>
        <p:spPr>
          <a:xfrm xmlns:a="http://schemas.openxmlformats.org/drawingml/2006/main">
            <a:off x="10248900" y="2990850"/>
            <a:ext cx="6858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650" b="1">
                <a:solidFill>
                  <a:srgbClr val="8F2D56"/>
                </a:solidFill>
                <a:latin typeface="Aptos"/>
                <a:ea typeface="Aptos"/>
                <a:cs typeface="Aptos"/>
              </a:defRPr>
            </a:pPr>
            <a:r>
              <a:rPr sz="1650" b="1">
                <a:solidFill>
                  <a:srgbClr val="8F2D56"/>
                </a:solidFill>
                <a:latin typeface="Aptos"/>
                <a:ea typeface="Aptos"/>
                <a:cs typeface="Aptos"/>
              </a:rPr>
              <a:t>1 → 0</a:t>
            </a:r>
          </a:p>
          <a:p xmlns:a="http://schemas.openxmlformats.org/drawingml/2006/main">
            <a:pPr algn="ctr">
              <a:buNone/>
              <a:defRPr sz="1650" b="1">
                <a:solidFill>
                  <a:srgbClr val="8F2D56"/>
                </a:solidFill>
                <a:latin typeface="Aptos"/>
                <a:ea typeface="Aptos"/>
                <a:cs typeface="Aptos"/>
              </a:defRPr>
            </a:pPr>
            <a:r>
              <a:rPr sz="1650" b="1">
                <a:solidFill>
                  <a:srgbClr val="8F2D56"/>
                </a:solidFill>
                <a:latin typeface="Aptos"/>
                <a:ea typeface="Aptos"/>
                <a:cs typeface="Aptos"/>
              </a:rPr>
              <a:t>pokles</a:t>
            </a:r>
          </a:p>
        </p:txBody>
      </p:sp>
      <p:sp>
        <p:nvSpPr>
          <p:cNvPr id="17" name="">
            <a:extLst xmlns:a="http://schemas.openxmlformats.org/drawingml/2006/main">
              <a:ext uri="{FF2B5EF4-FFF2-40B4-BE49-F238E27FC236}">
                <a16:creationId xmlns:a16="http://schemas.microsoft.com/office/drawing/2014/main" id="{B8361E78-3CEC-4627-8F4D-575A9EF14714}"/>
              </a:ext>
            </a:extLst>
          </p:cNvPr>
          <p:cNvSpPr>
            <a:spLocks xmlns:a="http://schemas.openxmlformats.org/drawingml/2006/main" noGrp="1"/>
          </p:cNvSpPr>
          <p:nvPr/>
        </p:nvSpPr>
        <p:spPr>
          <a:xfrm xmlns:a="http://schemas.openxmlformats.org/drawingml/2006/main">
            <a:off x="876300" y="5048250"/>
            <a:ext cx="8858250" cy="762000"/>
          </a:xfrm>
          <a:prstGeom xmlns:a="http://schemas.openxmlformats.org/drawingml/2006/main" prst="rect">
            <a:avLst/>
          </a:prstGeom>
          <a:solidFill xmlns:a="http://schemas.openxmlformats.org/drawingml/2006/main">
            <a:srgbClr val="EAF2F6"/>
          </a:solidFill>
          <a:ln xmlns:a="http://schemas.openxmlformats.org/drawingml/2006/main" w="9525">
            <a:solidFill>
              <a:srgbClr val="D9DEE7"/>
            </a:solidFill>
            <a:prstDash val="solid"/>
          </a:ln>
        </p:spPr>
      </p:sp>
      <p:sp>
        <p:nvSpPr>
          <p:cNvPr id="18" name="">
            <a:extLst xmlns:a="http://schemas.openxmlformats.org/drawingml/2006/main">
              <a:ext uri="{FF2B5EF4-FFF2-40B4-BE49-F238E27FC236}">
                <a16:creationId xmlns:a16="http://schemas.microsoft.com/office/drawing/2014/main" id="{F9570115-C9F0-4C39-94A9-D96277CD36A9}"/>
              </a:ext>
            </a:extLst>
          </p:cNvPr>
          <p:cNvSpPr>
            <a:spLocks xmlns:a="http://schemas.openxmlformats.org/drawingml/2006/main" noGrp="1"/>
          </p:cNvSpPr>
          <p:nvPr/>
        </p:nvSpPr>
        <p:spPr>
          <a:xfrm xmlns:a="http://schemas.openxmlformats.org/drawingml/2006/main">
            <a:off x="876300" y="5048250"/>
            <a:ext cx="76200" cy="762000"/>
          </a:xfrm>
          <a:prstGeom xmlns:a="http://schemas.openxmlformats.org/drawingml/2006/main" prst="rect">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134ABEB4-E7A9-47E2-BD2E-844A77C38EB7}"/>
              </a:ext>
            </a:extLst>
          </p:cNvPr>
          <p:cNvSpPr>
            <a:spLocks xmlns:a="http://schemas.openxmlformats.org/drawingml/2006/main" noGrp="1"/>
          </p:cNvSpPr>
          <p:nvPr/>
        </p:nvSpPr>
        <p:spPr>
          <a:xfrm xmlns:a="http://schemas.openxmlformats.org/drawingml/2006/main">
            <a:off x="1143000" y="5238750"/>
            <a:ext cx="84010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17212B"/>
                </a:solidFill>
                <a:latin typeface="Aptos"/>
                <a:ea typeface="Aptos"/>
                <a:cs typeface="Aptos"/>
              </a:defRPr>
            </a:pPr>
            <a:r>
              <a:rPr sz="1800" b="1">
                <a:solidFill>
                  <a:srgbClr val="17212B"/>
                </a:solidFill>
                <a:latin typeface="Aptos"/>
                <a:ea typeface="Aptos"/>
                <a:cs typeface="Aptos"/>
              </a:rPr>
              <a:t>Parametry a, b, c, d určují začátek, plnou oblast a konec kategorie.</a:t>
            </a:r>
          </a:p>
        </p:txBody>
      </p:sp>
    </p:spTree>
    <p:extLst>
      <p:ext uri="{BB962C8B-B14F-4D97-AF65-F5344CB8AC3E}">
        <p14:creationId xmlns:p14="http://schemas.microsoft.com/office/powerpoint/2010/main" val="128146153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AA497C4-C29F-4BFA-AACF-799977D60F0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9"/>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63D5ED6-D272-496C-93DC-EC18C778FC06}"/>
              </a:ext>
            </a:extLst>
          </p:cNvPr>
          <p:cNvSpPr>
            <a:spLocks xmlns:a="http://schemas.openxmlformats.org/drawingml/2006/main" noGrp="1"/>
          </p:cNvSpPr>
          <p:nvPr/>
        </p:nvSpPr>
        <p:spPr>
          <a:xfrm xmlns:a="http://schemas.openxmlformats.org/drawingml/2006/main">
            <a:off x="0" y="0"/>
            <a:ext cx="12192000" cy="838200"/>
          </a:xfrm>
          <a:prstGeom xmlns:a="http://schemas.openxmlformats.org/drawingml/2006/main" prst="rect">
            <a:avLst/>
          </a:prstGeom>
          <a:solidFill xmlns:a="http://schemas.openxmlformats.org/drawingml/2006/main">
            <a:srgbClr val="24465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E7F40E1-B29F-41B5-ADC6-DEADCFDBF94A}"/>
              </a:ext>
            </a:extLst>
          </p:cNvPr>
          <p:cNvSpPr>
            <a:spLocks xmlns:a="http://schemas.openxmlformats.org/drawingml/2006/main" noGrp="1"/>
          </p:cNvSpPr>
          <p:nvPr/>
        </p:nvSpPr>
        <p:spPr>
          <a:xfrm xmlns:a="http://schemas.openxmlformats.org/drawingml/2006/main">
            <a:off x="609600" y="266700"/>
            <a:ext cx="5143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Fuzzy věkové rozdělení</a:t>
            </a:r>
          </a:p>
        </p:txBody>
      </p:sp>
      <p:sp>
        <p:nvSpPr>
          <p:cNvPr id="4" name="">
            <a:extLst xmlns:a="http://schemas.openxmlformats.org/drawingml/2006/main">
              <a:ext uri="{FF2B5EF4-FFF2-40B4-BE49-F238E27FC236}">
                <a16:creationId xmlns:a16="http://schemas.microsoft.com/office/drawing/2014/main" id="{91642A96-F5ED-4BC6-BEE7-5568E53B26EB}"/>
              </a:ext>
            </a:extLst>
          </p:cNvPr>
          <p:cNvSpPr>
            <a:spLocks xmlns:a="http://schemas.openxmlformats.org/drawingml/2006/main" noGrp="1"/>
          </p:cNvSpPr>
          <p:nvPr/>
        </p:nvSpPr>
        <p:spPr>
          <a:xfrm xmlns:a="http://schemas.openxmlformats.org/drawingml/2006/main">
            <a:off x="11049000" y="266700"/>
            <a:ext cx="571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FFFFFF"/>
                </a:solidFill>
                <a:latin typeface="Aptos"/>
                <a:ea typeface="Aptos"/>
                <a:cs typeface="Aptos"/>
              </a:defRPr>
            </a:pPr>
            <a:r>
              <a:rPr sz="1200" b="1">
                <a:solidFill>
                  <a:srgbClr val="FFFFFF"/>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596E63B9-003E-483D-985D-0DCB081A8232}"/>
              </a:ext>
            </a:extLst>
          </p:cNvPr>
          <p:cNvSpPr>
            <a:spLocks xmlns:a="http://schemas.openxmlformats.org/drawingml/2006/main" noGrp="1"/>
          </p:cNvSpPr>
          <p:nvPr/>
        </p:nvSpPr>
        <p:spPr>
          <a:xfrm xmlns:a="http://schemas.openxmlformats.org/drawingml/2006/main">
            <a:off x="609600" y="1143000"/>
            <a:ext cx="8763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550" b="1">
                <a:solidFill>
                  <a:srgbClr val="17212B"/>
                </a:solidFill>
                <a:latin typeface="Aptos Display"/>
                <a:ea typeface="Aptos Display"/>
                <a:cs typeface="Aptos Display"/>
              </a:defRPr>
            </a:pPr>
            <a:r>
              <a:rPr sz="2550" b="1">
                <a:solidFill>
                  <a:srgbClr val="17212B"/>
                </a:solidFill>
                <a:latin typeface="Aptos Display"/>
                <a:ea typeface="Aptos Display"/>
                <a:cs typeface="Aptos Display"/>
              </a:rPr>
              <a:t>Grafické zobrazení</a:t>
            </a:r>
          </a:p>
        </p:txBody>
      </p:sp>
      <p:sp>
        <p:nvSpPr>
          <p:cNvPr id="6" name="">
            <a:extLst xmlns:a="http://schemas.openxmlformats.org/drawingml/2006/main">
              <a:ext uri="{FF2B5EF4-FFF2-40B4-BE49-F238E27FC236}">
                <a16:creationId xmlns:a16="http://schemas.microsoft.com/office/drawing/2014/main" id="{EB3930BE-FEFD-4329-85D8-A8D5109061AF}"/>
              </a:ext>
            </a:extLst>
          </p:cNvPr>
          <p:cNvSpPr>
            <a:spLocks xmlns:a="http://schemas.openxmlformats.org/drawingml/2006/main" noGrp="1"/>
          </p:cNvSpPr>
          <p:nvPr/>
        </p:nvSpPr>
        <p:spPr>
          <a:xfrm xmlns:a="http://schemas.openxmlformats.org/drawingml/2006/main">
            <a:off x="819150" y="1933575"/>
            <a:ext cx="133350" cy="133350"/>
          </a:xfrm>
          <a:prstGeom xmlns:a="http://schemas.openxmlformats.org/drawingml/2006/main" prst="ellipse">
            <a:avLst/>
          </a:prstGeom>
          <a:solidFill xmlns:a="http://schemas.openxmlformats.org/drawingml/2006/main">
            <a:srgbClr val="D1495B"/>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C701D8F-BA2B-45CB-89C2-D488AB9EFD9D}"/>
              </a:ext>
            </a:extLst>
          </p:cNvPr>
          <p:cNvSpPr>
            <a:spLocks xmlns:a="http://schemas.openxmlformats.org/drawingml/2006/main" noGrp="1"/>
          </p:cNvSpPr>
          <p:nvPr/>
        </p:nvSpPr>
        <p:spPr>
          <a:xfrm xmlns:a="http://schemas.openxmlformats.org/drawingml/2006/main">
            <a:off x="1028700" y="1885950"/>
            <a:ext cx="10287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7212B"/>
                </a:solidFill>
                <a:latin typeface="Aptos"/>
                <a:ea typeface="Aptos"/>
                <a:cs typeface="Aptos"/>
              </a:defRPr>
            </a:pPr>
            <a:r>
              <a:rPr sz="1200" b="0">
                <a:solidFill>
                  <a:srgbClr val="17212B"/>
                </a:solidFill>
                <a:latin typeface="Aptos"/>
                <a:ea typeface="Aptos"/>
                <a:cs typeface="Aptos"/>
              </a:rPr>
              <a:t>malí</a:t>
            </a:r>
          </a:p>
        </p:txBody>
      </p:sp>
      <p:sp>
        <p:nvSpPr>
          <p:cNvPr id="8" name="">
            <a:extLst xmlns:a="http://schemas.openxmlformats.org/drawingml/2006/main">
              <a:ext uri="{FF2B5EF4-FFF2-40B4-BE49-F238E27FC236}">
                <a16:creationId xmlns:a16="http://schemas.microsoft.com/office/drawing/2014/main" id="{F52DEE84-119F-40E2-BE11-BBB12F47DEC3}"/>
              </a:ext>
            </a:extLst>
          </p:cNvPr>
          <p:cNvSpPr>
            <a:spLocks xmlns:a="http://schemas.openxmlformats.org/drawingml/2006/main" noGrp="1"/>
          </p:cNvSpPr>
          <p:nvPr/>
        </p:nvSpPr>
        <p:spPr>
          <a:xfrm xmlns:a="http://schemas.openxmlformats.org/drawingml/2006/main">
            <a:off x="2171700" y="1933575"/>
            <a:ext cx="133350" cy="133350"/>
          </a:xfrm>
          <a:prstGeom xmlns:a="http://schemas.openxmlformats.org/drawingml/2006/main" prst="ellipse">
            <a:avLst/>
          </a:prstGeom>
          <a:solidFill xmlns:a="http://schemas.openxmlformats.org/drawingml/2006/main">
            <a:srgbClr val="ED9B40"/>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264DD9E7-18EC-433A-A38F-03F811776041}"/>
              </a:ext>
            </a:extLst>
          </p:cNvPr>
          <p:cNvSpPr>
            <a:spLocks xmlns:a="http://schemas.openxmlformats.org/drawingml/2006/main" noGrp="1"/>
          </p:cNvSpPr>
          <p:nvPr/>
        </p:nvSpPr>
        <p:spPr>
          <a:xfrm xmlns:a="http://schemas.openxmlformats.org/drawingml/2006/main">
            <a:off x="2381250" y="1885950"/>
            <a:ext cx="10287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7212B"/>
                </a:solidFill>
                <a:latin typeface="Aptos"/>
                <a:ea typeface="Aptos"/>
                <a:cs typeface="Aptos"/>
              </a:defRPr>
            </a:pPr>
            <a:r>
              <a:rPr sz="1200" b="0">
                <a:solidFill>
                  <a:srgbClr val="17212B"/>
                </a:solidFill>
                <a:latin typeface="Aptos"/>
                <a:ea typeface="Aptos"/>
                <a:cs typeface="Aptos"/>
              </a:rPr>
              <a:t>mladí</a:t>
            </a:r>
          </a:p>
        </p:txBody>
      </p:sp>
      <p:sp>
        <p:nvSpPr>
          <p:cNvPr id="10" name="">
            <a:extLst xmlns:a="http://schemas.openxmlformats.org/drawingml/2006/main">
              <a:ext uri="{FF2B5EF4-FFF2-40B4-BE49-F238E27FC236}">
                <a16:creationId xmlns:a16="http://schemas.microsoft.com/office/drawing/2014/main" id="{9C4CF9FE-012E-49DD-A6B3-0EBFE6FFAEEA}"/>
              </a:ext>
            </a:extLst>
          </p:cNvPr>
          <p:cNvSpPr>
            <a:spLocks xmlns:a="http://schemas.openxmlformats.org/drawingml/2006/main" noGrp="1"/>
          </p:cNvSpPr>
          <p:nvPr/>
        </p:nvSpPr>
        <p:spPr>
          <a:xfrm xmlns:a="http://schemas.openxmlformats.org/drawingml/2006/main">
            <a:off x="3524250" y="1933575"/>
            <a:ext cx="133350" cy="133350"/>
          </a:xfrm>
          <a:prstGeom xmlns:a="http://schemas.openxmlformats.org/drawingml/2006/main" prst="ellipse">
            <a:avLst/>
          </a:prstGeom>
          <a:solidFill xmlns:a="http://schemas.openxmlformats.org/drawingml/2006/main">
            <a:srgbClr val="3A7D44"/>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DE339FF-DC8F-4BFE-A487-1A5C073B45C9}"/>
              </a:ext>
            </a:extLst>
          </p:cNvPr>
          <p:cNvSpPr>
            <a:spLocks xmlns:a="http://schemas.openxmlformats.org/drawingml/2006/main" noGrp="1"/>
          </p:cNvSpPr>
          <p:nvPr/>
        </p:nvSpPr>
        <p:spPr>
          <a:xfrm xmlns:a="http://schemas.openxmlformats.org/drawingml/2006/main">
            <a:off x="3733800" y="1885950"/>
            <a:ext cx="10287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7212B"/>
                </a:solidFill>
                <a:latin typeface="Aptos"/>
                <a:ea typeface="Aptos"/>
                <a:cs typeface="Aptos"/>
              </a:defRPr>
            </a:pPr>
            <a:r>
              <a:rPr sz="1200" b="0">
                <a:solidFill>
                  <a:srgbClr val="17212B"/>
                </a:solidFill>
                <a:latin typeface="Aptos"/>
                <a:ea typeface="Aptos"/>
                <a:cs typeface="Aptos"/>
              </a:rPr>
              <a:t>střední</a:t>
            </a:r>
          </a:p>
        </p:txBody>
      </p:sp>
      <p:sp>
        <p:nvSpPr>
          <p:cNvPr id="12" name="">
            <a:extLst xmlns:a="http://schemas.openxmlformats.org/drawingml/2006/main">
              <a:ext uri="{FF2B5EF4-FFF2-40B4-BE49-F238E27FC236}">
                <a16:creationId xmlns:a16="http://schemas.microsoft.com/office/drawing/2014/main" id="{0813AD89-6090-4FD2-9A4F-D1F2581CA25A}"/>
              </a:ext>
            </a:extLst>
          </p:cNvPr>
          <p:cNvSpPr>
            <a:spLocks xmlns:a="http://schemas.openxmlformats.org/drawingml/2006/main" noGrp="1"/>
          </p:cNvSpPr>
          <p:nvPr/>
        </p:nvSpPr>
        <p:spPr>
          <a:xfrm xmlns:a="http://schemas.openxmlformats.org/drawingml/2006/main">
            <a:off x="4876800" y="1933575"/>
            <a:ext cx="133350" cy="13335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B3D3CDFF-9C3C-4C39-85FE-8D7E3D7A8E7A}"/>
              </a:ext>
            </a:extLst>
          </p:cNvPr>
          <p:cNvSpPr>
            <a:spLocks xmlns:a="http://schemas.openxmlformats.org/drawingml/2006/main" noGrp="1"/>
          </p:cNvSpPr>
          <p:nvPr/>
        </p:nvSpPr>
        <p:spPr>
          <a:xfrm xmlns:a="http://schemas.openxmlformats.org/drawingml/2006/main">
            <a:off x="5086350" y="1885950"/>
            <a:ext cx="10287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7212B"/>
                </a:solidFill>
                <a:latin typeface="Aptos"/>
                <a:ea typeface="Aptos"/>
                <a:cs typeface="Aptos"/>
              </a:defRPr>
            </a:pPr>
            <a:r>
              <a:rPr sz="1200" b="0">
                <a:solidFill>
                  <a:srgbClr val="17212B"/>
                </a:solidFill>
                <a:latin typeface="Aptos"/>
                <a:ea typeface="Aptos"/>
                <a:cs typeface="Aptos"/>
              </a:rPr>
              <a:t>starší</a:t>
            </a:r>
          </a:p>
        </p:txBody>
      </p:sp>
      <p:sp>
        <p:nvSpPr>
          <p:cNvPr id="14" name="">
            <a:extLst xmlns:a="http://schemas.openxmlformats.org/drawingml/2006/main">
              <a:ext uri="{FF2B5EF4-FFF2-40B4-BE49-F238E27FC236}">
                <a16:creationId xmlns:a16="http://schemas.microsoft.com/office/drawing/2014/main" id="{E925C663-FDB9-4C20-AAB4-EFD80C16E0E4}"/>
              </a:ext>
            </a:extLst>
          </p:cNvPr>
          <p:cNvSpPr>
            <a:spLocks xmlns:a="http://schemas.openxmlformats.org/drawingml/2006/main" noGrp="1"/>
          </p:cNvSpPr>
          <p:nvPr/>
        </p:nvSpPr>
        <p:spPr>
          <a:xfrm xmlns:a="http://schemas.openxmlformats.org/drawingml/2006/main">
            <a:off x="6229350" y="1933575"/>
            <a:ext cx="133350" cy="133350"/>
          </a:xfrm>
          <a:prstGeom xmlns:a="http://schemas.openxmlformats.org/drawingml/2006/main" prst="ellipse">
            <a:avLst/>
          </a:prstGeom>
          <a:solidFill xmlns:a="http://schemas.openxmlformats.org/drawingml/2006/main">
            <a:srgbClr val="5E548E"/>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D32D32F2-36E2-4528-BD02-91E724CC82CC}"/>
              </a:ext>
            </a:extLst>
          </p:cNvPr>
          <p:cNvSpPr>
            <a:spLocks xmlns:a="http://schemas.openxmlformats.org/drawingml/2006/main" noGrp="1"/>
          </p:cNvSpPr>
          <p:nvPr/>
        </p:nvSpPr>
        <p:spPr>
          <a:xfrm xmlns:a="http://schemas.openxmlformats.org/drawingml/2006/main">
            <a:off x="6438900" y="1885950"/>
            <a:ext cx="10287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7212B"/>
                </a:solidFill>
                <a:latin typeface="Aptos"/>
                <a:ea typeface="Aptos"/>
                <a:cs typeface="Aptos"/>
              </a:defRPr>
            </a:pPr>
            <a:r>
              <a:rPr sz="1200" b="0">
                <a:solidFill>
                  <a:srgbClr val="17212B"/>
                </a:solidFill>
                <a:latin typeface="Aptos"/>
                <a:ea typeface="Aptos"/>
                <a:cs typeface="Aptos"/>
              </a:rPr>
              <a:t>staří</a:t>
            </a:r>
          </a:p>
        </p:txBody>
      </p:sp>
      <p:sp>
        <p:nvSpPr>
          <p:cNvPr id="16" name="">
            <a:extLst xmlns:a="http://schemas.openxmlformats.org/drawingml/2006/main">
              <a:ext uri="{FF2B5EF4-FFF2-40B4-BE49-F238E27FC236}">
                <a16:creationId xmlns:a16="http://schemas.microsoft.com/office/drawing/2014/main" id="{57A62883-41B6-4D7E-A4C5-D0057DECBDC3}"/>
              </a:ext>
            </a:extLst>
          </p:cNvPr>
          <p:cNvSpPr>
            <a:spLocks xmlns:a="http://schemas.openxmlformats.org/drawingml/2006/main" noGrp="1"/>
          </p:cNvSpPr>
          <p:nvPr/>
        </p:nvSpPr>
        <p:spPr>
          <a:xfrm xmlns:a="http://schemas.openxmlformats.org/drawingml/2006/main">
            <a:off x="7581900" y="1933575"/>
            <a:ext cx="133350" cy="133350"/>
          </a:xfrm>
          <a:prstGeom xmlns:a="http://schemas.openxmlformats.org/drawingml/2006/main" prst="ellipse">
            <a:avLst/>
          </a:prstGeom>
          <a:solidFill xmlns:a="http://schemas.openxmlformats.org/drawingml/2006/main">
            <a:srgbClr val="8F2D56"/>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85FB61E3-FA9E-4F2D-A756-5780A432FCE1}"/>
              </a:ext>
            </a:extLst>
          </p:cNvPr>
          <p:cNvSpPr>
            <a:spLocks xmlns:a="http://schemas.openxmlformats.org/drawingml/2006/main" noGrp="1"/>
          </p:cNvSpPr>
          <p:nvPr/>
        </p:nvSpPr>
        <p:spPr>
          <a:xfrm xmlns:a="http://schemas.openxmlformats.org/drawingml/2006/main">
            <a:off x="7791450" y="1885950"/>
            <a:ext cx="10287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7212B"/>
                </a:solidFill>
                <a:latin typeface="Aptos"/>
                <a:ea typeface="Aptos"/>
                <a:cs typeface="Aptos"/>
              </a:defRPr>
            </a:pPr>
            <a:r>
              <a:rPr sz="1200" b="0">
                <a:solidFill>
                  <a:srgbClr val="17212B"/>
                </a:solidFill>
                <a:latin typeface="Aptos"/>
                <a:ea typeface="Aptos"/>
                <a:cs typeface="Aptos"/>
              </a:rPr>
              <a:t>nejstarší</a:t>
            </a:r>
          </a:p>
        </p:txBody>
      </p:sp>
      <p:sp>
        <p:nvSpPr>
          <p:cNvPr id="18" name="">
            <a:extLst xmlns:a="http://schemas.openxmlformats.org/drawingml/2006/main">
              <a:ext uri="{FF2B5EF4-FFF2-40B4-BE49-F238E27FC236}">
                <a16:creationId xmlns:a16="http://schemas.microsoft.com/office/drawing/2014/main" id="{D924A718-3C51-4F0D-A08D-516914009DE2}"/>
              </a:ext>
            </a:extLst>
          </p:cNvPr>
          <p:cNvSpPr>
            <a:spLocks xmlns:a="http://schemas.openxmlformats.org/drawingml/2006/main" noGrp="1"/>
          </p:cNvSpPr>
          <p:nvPr/>
        </p:nvSpPr>
        <p:spPr>
          <a:xfrm xmlns:a="http://schemas.openxmlformats.org/drawingml/2006/main">
            <a:off x="762000" y="2266950"/>
            <a:ext cx="9810750" cy="39052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1decfcadbfb41f7"/>
          <a:stretch xmlns:a="http://schemas.openxmlformats.org/drawingml/2006/main"/>
        </p:blipFill>
        <p:spPr>
          <a:xfrm xmlns:a="http://schemas.openxmlformats.org/drawingml/2006/main">
            <a:off x="1428750" y="2428875"/>
            <a:ext cx="8572500" cy="385762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45B09F6A-DA8E-4649-95C7-3575437C6E15}"/>
              </a:ext>
            </a:extLst>
          </p:cNvPr>
          <p:cNvSpPr>
            <a:spLocks xmlns:a="http://schemas.openxmlformats.org/drawingml/2006/main" noGrp="1"/>
          </p:cNvSpPr>
          <p:nvPr/>
        </p:nvSpPr>
        <p:spPr>
          <a:xfrm xmlns:a="http://schemas.openxmlformats.org/drawingml/2006/main">
            <a:off x="7524750" y="981075"/>
            <a:ext cx="3714750" cy="838200"/>
          </a:xfrm>
          <a:prstGeom xmlns:a="http://schemas.openxmlformats.org/drawingml/2006/main" prst="rect">
            <a:avLst/>
          </a:prstGeom>
          <a:solidFill xmlns:a="http://schemas.openxmlformats.org/drawingml/2006/main">
            <a:srgbClr val="FFF3E4"/>
          </a:solidFill>
          <a:ln xmlns:a="http://schemas.openxmlformats.org/drawingml/2006/main" w="9525">
            <a:solidFill>
              <a:srgbClr val="D9DEE7"/>
            </a:solidFill>
            <a:prstDash val="solid"/>
          </a:ln>
        </p:spPr>
      </p:sp>
      <p:sp>
        <p:nvSpPr>
          <p:cNvPr id="21" name="">
            <a:extLst xmlns:a="http://schemas.openxmlformats.org/drawingml/2006/main">
              <a:ext uri="{FF2B5EF4-FFF2-40B4-BE49-F238E27FC236}">
                <a16:creationId xmlns:a16="http://schemas.microsoft.com/office/drawing/2014/main" id="{CC33D508-80C0-4FC0-A617-4A0BADAF7B64}"/>
              </a:ext>
            </a:extLst>
          </p:cNvPr>
          <p:cNvSpPr>
            <a:spLocks xmlns:a="http://schemas.openxmlformats.org/drawingml/2006/main" noGrp="1"/>
          </p:cNvSpPr>
          <p:nvPr/>
        </p:nvSpPr>
        <p:spPr>
          <a:xfrm xmlns:a="http://schemas.openxmlformats.org/drawingml/2006/main">
            <a:off x="7524750" y="981075"/>
            <a:ext cx="76200" cy="838200"/>
          </a:xfrm>
          <a:prstGeom xmlns:a="http://schemas.openxmlformats.org/drawingml/2006/main" prst="rect">
            <a:avLst/>
          </a:prstGeom>
          <a:solidFill xmlns:a="http://schemas.openxmlformats.org/drawingml/2006/main">
            <a:srgbClr val="ED9B4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0335BB32-F66F-4865-90C4-373AD074DC36}"/>
              </a:ext>
            </a:extLst>
          </p:cNvPr>
          <p:cNvSpPr>
            <a:spLocks xmlns:a="http://schemas.openxmlformats.org/drawingml/2006/main" noGrp="1"/>
          </p:cNvSpPr>
          <p:nvPr/>
        </p:nvSpPr>
        <p:spPr>
          <a:xfrm xmlns:a="http://schemas.openxmlformats.org/drawingml/2006/main">
            <a:off x="7753350" y="1152525"/>
            <a:ext cx="32194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17212B"/>
                </a:solidFill>
                <a:latin typeface="Aptos"/>
                <a:ea typeface="Aptos"/>
                <a:cs typeface="Aptos"/>
              </a:defRPr>
            </a:pPr>
            <a:r>
              <a:rPr sz="1350" b="1">
                <a:solidFill>
                  <a:srgbClr val="17212B"/>
                </a:solidFill>
                <a:latin typeface="Aptos"/>
                <a:ea typeface="Aptos"/>
                <a:cs typeface="Aptos"/>
              </a:rPr>
              <a:t>Svislá čárkovaná linka ukazuje věk 35 let. Body na křivkách ukazují příslušnost ke kategoriím.</a:t>
            </a:r>
          </a:p>
        </p:txBody>
      </p:sp>
    </p:spTree>
    <p:extLst>
      <p:ext uri="{BB962C8B-B14F-4D97-AF65-F5344CB8AC3E}">
        <p14:creationId xmlns:p14="http://schemas.microsoft.com/office/powerpoint/2010/main" val="149796461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231A461-A919-4342-A07D-29AB0B147F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9"/>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B26D8B2-80D6-4AF9-8CE6-9545D11388A8}"/>
              </a:ext>
            </a:extLst>
          </p:cNvPr>
          <p:cNvSpPr>
            <a:spLocks xmlns:a="http://schemas.openxmlformats.org/drawingml/2006/main" noGrp="1"/>
          </p:cNvSpPr>
          <p:nvPr/>
        </p:nvSpPr>
        <p:spPr>
          <a:xfrm xmlns:a="http://schemas.openxmlformats.org/drawingml/2006/main">
            <a:off x="0" y="0"/>
            <a:ext cx="12192000" cy="838200"/>
          </a:xfrm>
          <a:prstGeom xmlns:a="http://schemas.openxmlformats.org/drawingml/2006/main" prst="rect">
            <a:avLst/>
          </a:prstGeom>
          <a:solidFill xmlns:a="http://schemas.openxmlformats.org/drawingml/2006/main">
            <a:srgbClr val="24465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9803092-126C-4950-9AF1-C077F892884F}"/>
              </a:ext>
            </a:extLst>
          </p:cNvPr>
          <p:cNvSpPr>
            <a:spLocks xmlns:a="http://schemas.openxmlformats.org/drawingml/2006/main" noGrp="1"/>
          </p:cNvSpPr>
          <p:nvPr/>
        </p:nvSpPr>
        <p:spPr>
          <a:xfrm xmlns:a="http://schemas.openxmlformats.org/drawingml/2006/main">
            <a:off x="609600" y="266700"/>
            <a:ext cx="5143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Fuzzy věkové rozdělení</a:t>
            </a:r>
          </a:p>
        </p:txBody>
      </p:sp>
      <p:sp>
        <p:nvSpPr>
          <p:cNvPr id="4" name="">
            <a:extLst xmlns:a="http://schemas.openxmlformats.org/drawingml/2006/main">
              <a:ext uri="{FF2B5EF4-FFF2-40B4-BE49-F238E27FC236}">
                <a16:creationId xmlns:a16="http://schemas.microsoft.com/office/drawing/2014/main" id="{E1A1E146-0E40-4573-9662-7D45971B992D}"/>
              </a:ext>
            </a:extLst>
          </p:cNvPr>
          <p:cNvSpPr>
            <a:spLocks xmlns:a="http://schemas.openxmlformats.org/drawingml/2006/main" noGrp="1"/>
          </p:cNvSpPr>
          <p:nvPr/>
        </p:nvSpPr>
        <p:spPr>
          <a:xfrm xmlns:a="http://schemas.openxmlformats.org/drawingml/2006/main">
            <a:off x="11049000" y="266700"/>
            <a:ext cx="571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FFFFFF"/>
                </a:solidFill>
                <a:latin typeface="Aptos"/>
                <a:ea typeface="Aptos"/>
                <a:cs typeface="Aptos"/>
              </a:defRPr>
            </a:pPr>
            <a:r>
              <a:rPr sz="1200" b="1">
                <a:solidFill>
                  <a:srgbClr val="FFFFFF"/>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44A06518-331F-423E-A7A1-922A50E5DD2D}"/>
              </a:ext>
            </a:extLst>
          </p:cNvPr>
          <p:cNvSpPr>
            <a:spLocks xmlns:a="http://schemas.openxmlformats.org/drawingml/2006/main" noGrp="1"/>
          </p:cNvSpPr>
          <p:nvPr/>
        </p:nvSpPr>
        <p:spPr>
          <a:xfrm xmlns:a="http://schemas.openxmlformats.org/drawingml/2006/main">
            <a:off x="609600" y="1143000"/>
            <a:ext cx="8763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550" b="1">
                <a:solidFill>
                  <a:srgbClr val="17212B"/>
                </a:solidFill>
                <a:latin typeface="Aptos Display"/>
                <a:ea typeface="Aptos Display"/>
                <a:cs typeface="Aptos Display"/>
              </a:defRPr>
            </a:pPr>
            <a:r>
              <a:rPr sz="2550" b="1">
                <a:solidFill>
                  <a:srgbClr val="17212B"/>
                </a:solidFill>
                <a:latin typeface="Aptos Display"/>
                <a:ea typeface="Aptos Display"/>
                <a:cs typeface="Aptos Display"/>
              </a:rPr>
              <a:t>Příklad: věk 35 let</a:t>
            </a:r>
          </a:p>
        </p:txBody>
      </p:sp>
      <p:sp>
        <p:nvSpPr>
          <p:cNvPr id="6" name="">
            <a:extLst xmlns:a="http://schemas.openxmlformats.org/drawingml/2006/main">
              <a:ext uri="{FF2B5EF4-FFF2-40B4-BE49-F238E27FC236}">
                <a16:creationId xmlns:a16="http://schemas.microsoft.com/office/drawing/2014/main" id="{690A6F22-07F1-4C32-AF6C-63B443123B4B}"/>
              </a:ext>
            </a:extLst>
          </p:cNvPr>
          <p:cNvSpPr>
            <a:spLocks xmlns:a="http://schemas.openxmlformats.org/drawingml/2006/main" noGrp="1"/>
          </p:cNvSpPr>
          <p:nvPr/>
        </p:nvSpPr>
        <p:spPr>
          <a:xfrm xmlns:a="http://schemas.openxmlformats.org/drawingml/2006/main">
            <a:off x="838200" y="2200275"/>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BDDED68-CE5A-4A04-93FB-1550C90991AA}"/>
              </a:ext>
            </a:extLst>
          </p:cNvPr>
          <p:cNvSpPr>
            <a:spLocks xmlns:a="http://schemas.openxmlformats.org/drawingml/2006/main" noGrp="1"/>
          </p:cNvSpPr>
          <p:nvPr/>
        </p:nvSpPr>
        <p:spPr>
          <a:xfrm xmlns:a="http://schemas.openxmlformats.org/drawingml/2006/main">
            <a:off x="1104900" y="2114550"/>
            <a:ext cx="6953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0">
                <a:solidFill>
                  <a:srgbClr val="17212B"/>
                </a:solidFill>
                <a:latin typeface="Aptos"/>
                <a:ea typeface="Aptos"/>
                <a:cs typeface="Aptos"/>
              </a:defRPr>
            </a:pPr>
            <a:r>
              <a:rPr sz="1725" b="0">
                <a:solidFill>
                  <a:srgbClr val="17212B"/>
                </a:solidFill>
                <a:latin typeface="Aptos"/>
                <a:ea typeface="Aptos"/>
                <a:cs typeface="Aptos"/>
              </a:rPr>
              <a:t>Pro kategorii střední: a = 30, b = 42, c = 50, d = 60.</a:t>
            </a:r>
          </a:p>
        </p:txBody>
      </p:sp>
      <p:sp>
        <p:nvSpPr>
          <p:cNvPr id="8" name="">
            <a:extLst xmlns:a="http://schemas.openxmlformats.org/drawingml/2006/main">
              <a:ext uri="{FF2B5EF4-FFF2-40B4-BE49-F238E27FC236}">
                <a16:creationId xmlns:a16="http://schemas.microsoft.com/office/drawing/2014/main" id="{6BFEB730-4970-436D-9C0A-EAF0816BBE82}"/>
              </a:ext>
            </a:extLst>
          </p:cNvPr>
          <p:cNvSpPr>
            <a:spLocks xmlns:a="http://schemas.openxmlformats.org/drawingml/2006/main" noGrp="1"/>
          </p:cNvSpPr>
          <p:nvPr/>
        </p:nvSpPr>
        <p:spPr>
          <a:xfrm xmlns:a="http://schemas.openxmlformats.org/drawingml/2006/main">
            <a:off x="838200" y="2752725"/>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405645C-E8E2-4DA7-92BB-9249286F3031}"/>
              </a:ext>
            </a:extLst>
          </p:cNvPr>
          <p:cNvSpPr>
            <a:spLocks xmlns:a="http://schemas.openxmlformats.org/drawingml/2006/main" noGrp="1"/>
          </p:cNvSpPr>
          <p:nvPr/>
        </p:nvSpPr>
        <p:spPr>
          <a:xfrm xmlns:a="http://schemas.openxmlformats.org/drawingml/2006/main">
            <a:off x="1104900" y="2667000"/>
            <a:ext cx="6953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0">
                <a:solidFill>
                  <a:srgbClr val="17212B"/>
                </a:solidFill>
                <a:latin typeface="Aptos"/>
                <a:ea typeface="Aptos"/>
                <a:cs typeface="Aptos"/>
              </a:defRPr>
            </a:pPr>
            <a:r>
              <a:rPr sz="1725" b="0">
                <a:solidFill>
                  <a:srgbClr val="17212B"/>
                </a:solidFill>
                <a:latin typeface="Aptos"/>
                <a:ea typeface="Aptos"/>
                <a:cs typeface="Aptos"/>
              </a:rPr>
              <a:t>Věk 35 leží v rostoucí části funkce.</a:t>
            </a:r>
          </a:p>
        </p:txBody>
      </p:sp>
      <p:sp>
        <p:nvSpPr>
          <p:cNvPr id="10" name="">
            <a:extLst xmlns:a="http://schemas.openxmlformats.org/drawingml/2006/main">
              <a:ext uri="{FF2B5EF4-FFF2-40B4-BE49-F238E27FC236}">
                <a16:creationId xmlns:a16="http://schemas.microsoft.com/office/drawing/2014/main" id="{4F1F9360-6EDC-4F00-BEED-957AE2AF072E}"/>
              </a:ext>
            </a:extLst>
          </p:cNvPr>
          <p:cNvSpPr>
            <a:spLocks xmlns:a="http://schemas.openxmlformats.org/drawingml/2006/main" noGrp="1"/>
          </p:cNvSpPr>
          <p:nvPr/>
        </p:nvSpPr>
        <p:spPr>
          <a:xfrm xmlns:a="http://schemas.openxmlformats.org/drawingml/2006/main">
            <a:off x="838200" y="3305175"/>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5AAE09D9-F359-4ECE-89E6-D19DA64B352F}"/>
              </a:ext>
            </a:extLst>
          </p:cNvPr>
          <p:cNvSpPr>
            <a:spLocks xmlns:a="http://schemas.openxmlformats.org/drawingml/2006/main" noGrp="1"/>
          </p:cNvSpPr>
          <p:nvPr/>
        </p:nvSpPr>
        <p:spPr>
          <a:xfrm xmlns:a="http://schemas.openxmlformats.org/drawingml/2006/main">
            <a:off x="1104900" y="3219450"/>
            <a:ext cx="6953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0">
                <a:solidFill>
                  <a:srgbClr val="17212B"/>
                </a:solidFill>
                <a:latin typeface="Aptos"/>
                <a:ea typeface="Aptos"/>
                <a:cs typeface="Aptos"/>
              </a:defRPr>
            </a:pPr>
            <a:r>
              <a:rPr sz="1725" b="0">
                <a:solidFill>
                  <a:srgbClr val="17212B"/>
                </a:solidFill>
                <a:latin typeface="Aptos"/>
                <a:ea typeface="Aptos"/>
                <a:cs typeface="Aptos"/>
              </a:rPr>
              <a:t>μ(35) = (35 - 30) / (42 - 30) = 0,42.</a:t>
            </a:r>
          </a:p>
        </p:txBody>
      </p:sp>
      <p:sp>
        <p:nvSpPr>
          <p:cNvPr id="12" name="">
            <a:extLst xmlns:a="http://schemas.openxmlformats.org/drawingml/2006/main">
              <a:ext uri="{FF2B5EF4-FFF2-40B4-BE49-F238E27FC236}">
                <a16:creationId xmlns:a16="http://schemas.microsoft.com/office/drawing/2014/main" id="{CAF78231-14D1-4ACB-88E8-5CB266F214BE}"/>
              </a:ext>
            </a:extLst>
          </p:cNvPr>
          <p:cNvSpPr>
            <a:spLocks xmlns:a="http://schemas.openxmlformats.org/drawingml/2006/main" noGrp="1"/>
          </p:cNvSpPr>
          <p:nvPr/>
        </p:nvSpPr>
        <p:spPr>
          <a:xfrm xmlns:a="http://schemas.openxmlformats.org/drawingml/2006/main">
            <a:off x="8020050" y="2209800"/>
            <a:ext cx="28575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13" name="">
            <a:extLst xmlns:a="http://schemas.openxmlformats.org/drawingml/2006/main">
              <a:ext uri="{FF2B5EF4-FFF2-40B4-BE49-F238E27FC236}">
                <a16:creationId xmlns:a16="http://schemas.microsoft.com/office/drawing/2014/main" id="{80901630-ECF4-4EDA-8F0A-660B036BEEBD}"/>
              </a:ext>
            </a:extLst>
          </p:cNvPr>
          <p:cNvSpPr>
            <a:spLocks xmlns:a="http://schemas.openxmlformats.org/drawingml/2006/main" noGrp="1"/>
          </p:cNvSpPr>
          <p:nvPr/>
        </p:nvSpPr>
        <p:spPr>
          <a:xfrm xmlns:a="http://schemas.openxmlformats.org/drawingml/2006/main">
            <a:off x="8286750" y="2686050"/>
            <a:ext cx="23241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325" b="1">
                <a:solidFill>
                  <a:srgbClr val="24465A"/>
                </a:solidFill>
                <a:latin typeface="Aptos"/>
                <a:ea typeface="Aptos"/>
                <a:cs typeface="Aptos"/>
              </a:defRPr>
            </a:pPr>
            <a:r>
              <a:rPr sz="2325" b="1">
                <a:solidFill>
                  <a:srgbClr val="24465A"/>
                </a:solidFill>
                <a:latin typeface="Aptos"/>
                <a:ea typeface="Aptos"/>
                <a:cs typeface="Aptos"/>
              </a:rPr>
              <a:t>μ(35) = 5 / 12</a:t>
            </a:r>
          </a:p>
        </p:txBody>
      </p:sp>
      <p:sp>
        <p:nvSpPr>
          <p:cNvPr id="14" name="">
            <a:extLst xmlns:a="http://schemas.openxmlformats.org/drawingml/2006/main">
              <a:ext uri="{FF2B5EF4-FFF2-40B4-BE49-F238E27FC236}">
                <a16:creationId xmlns:a16="http://schemas.microsoft.com/office/drawing/2014/main" id="{C2546D12-541A-4AC9-B86E-4D0C03766C19}"/>
              </a:ext>
            </a:extLst>
          </p:cNvPr>
          <p:cNvSpPr>
            <a:spLocks xmlns:a="http://schemas.openxmlformats.org/drawingml/2006/main" noGrp="1"/>
          </p:cNvSpPr>
          <p:nvPr/>
        </p:nvSpPr>
        <p:spPr>
          <a:xfrm xmlns:a="http://schemas.openxmlformats.org/drawingml/2006/main">
            <a:off x="8286750" y="3333750"/>
            <a:ext cx="23241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325" b="1">
                <a:solidFill>
                  <a:srgbClr val="3A7D44"/>
                </a:solidFill>
                <a:latin typeface="Aptos"/>
                <a:ea typeface="Aptos"/>
                <a:cs typeface="Aptos"/>
              </a:defRPr>
            </a:pPr>
            <a:r>
              <a:rPr sz="2325" b="1">
                <a:solidFill>
                  <a:srgbClr val="3A7D44"/>
                </a:solidFill>
                <a:latin typeface="Aptos"/>
                <a:ea typeface="Aptos"/>
                <a:cs typeface="Aptos"/>
              </a:rPr>
              <a:t>μ(35) ≈ 0,42</a:t>
            </a:r>
          </a:p>
        </p:txBody>
      </p:sp>
      <p:sp>
        <p:nvSpPr>
          <p:cNvPr id="15" name="">
            <a:extLst xmlns:a="http://schemas.openxmlformats.org/drawingml/2006/main">
              <a:ext uri="{FF2B5EF4-FFF2-40B4-BE49-F238E27FC236}">
                <a16:creationId xmlns:a16="http://schemas.microsoft.com/office/drawing/2014/main" id="{A8504E81-F9CE-479F-95FA-12469C7BD874}"/>
              </a:ext>
            </a:extLst>
          </p:cNvPr>
          <p:cNvSpPr>
            <a:spLocks xmlns:a="http://schemas.openxmlformats.org/drawingml/2006/main" noGrp="1"/>
          </p:cNvSpPr>
          <p:nvPr/>
        </p:nvSpPr>
        <p:spPr>
          <a:xfrm xmlns:a="http://schemas.openxmlformats.org/drawingml/2006/main">
            <a:off x="838200" y="5048250"/>
            <a:ext cx="8763000" cy="781050"/>
          </a:xfrm>
          <a:prstGeom xmlns:a="http://schemas.openxmlformats.org/drawingml/2006/main" prst="rect">
            <a:avLst/>
          </a:prstGeom>
          <a:solidFill xmlns:a="http://schemas.openxmlformats.org/drawingml/2006/main">
            <a:srgbClr val="ECF6EF"/>
          </a:solidFill>
          <a:ln xmlns:a="http://schemas.openxmlformats.org/drawingml/2006/main" w="9525">
            <a:solidFill>
              <a:srgbClr val="D9DEE7"/>
            </a:solidFill>
            <a:prstDash val="solid"/>
          </a:ln>
        </p:spPr>
      </p:sp>
      <p:sp>
        <p:nvSpPr>
          <p:cNvPr id="16" name="">
            <a:extLst xmlns:a="http://schemas.openxmlformats.org/drawingml/2006/main">
              <a:ext uri="{FF2B5EF4-FFF2-40B4-BE49-F238E27FC236}">
                <a16:creationId xmlns:a16="http://schemas.microsoft.com/office/drawing/2014/main" id="{8EFBF599-A082-42A3-B894-C4131DCD772E}"/>
              </a:ext>
            </a:extLst>
          </p:cNvPr>
          <p:cNvSpPr>
            <a:spLocks xmlns:a="http://schemas.openxmlformats.org/drawingml/2006/main" noGrp="1"/>
          </p:cNvSpPr>
          <p:nvPr/>
        </p:nvSpPr>
        <p:spPr>
          <a:xfrm xmlns:a="http://schemas.openxmlformats.org/drawingml/2006/main">
            <a:off x="838200" y="5048250"/>
            <a:ext cx="76200" cy="781050"/>
          </a:xfrm>
          <a:prstGeom xmlns:a="http://schemas.openxmlformats.org/drawingml/2006/main" prst="rect">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BC434728-95F4-4A1B-A0E4-642C8A8256B6}"/>
              </a:ext>
            </a:extLst>
          </p:cNvPr>
          <p:cNvSpPr>
            <a:spLocks xmlns:a="http://schemas.openxmlformats.org/drawingml/2006/main" noGrp="1"/>
          </p:cNvSpPr>
          <p:nvPr/>
        </p:nvSpPr>
        <p:spPr>
          <a:xfrm xmlns:a="http://schemas.openxmlformats.org/drawingml/2006/main">
            <a:off x="1104900" y="5238750"/>
            <a:ext cx="83058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17212B"/>
                </a:solidFill>
                <a:latin typeface="Aptos"/>
                <a:ea typeface="Aptos"/>
                <a:cs typeface="Aptos"/>
              </a:defRPr>
            </a:pPr>
            <a:r>
              <a:rPr sz="1800" b="1">
                <a:solidFill>
                  <a:srgbClr val="17212B"/>
                </a:solidFill>
                <a:latin typeface="Aptos"/>
                <a:ea typeface="Aptos"/>
                <a:cs typeface="Aptos"/>
              </a:rPr>
              <a:t>Věk 35 let je podle modelu částečně mladý a částečně střední.</a:t>
            </a:r>
          </a:p>
        </p:txBody>
      </p:sp>
    </p:spTree>
    <p:extLst>
      <p:ext uri="{BB962C8B-B14F-4D97-AF65-F5344CB8AC3E}">
        <p14:creationId xmlns:p14="http://schemas.microsoft.com/office/powerpoint/2010/main" val="117288950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05EF328-7382-4223-8FD5-FD95BC0A6CA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9"/>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244F0BA-A5F0-488D-84C1-EBDD595080E7}"/>
              </a:ext>
            </a:extLst>
          </p:cNvPr>
          <p:cNvSpPr>
            <a:spLocks xmlns:a="http://schemas.openxmlformats.org/drawingml/2006/main" noGrp="1"/>
          </p:cNvSpPr>
          <p:nvPr/>
        </p:nvSpPr>
        <p:spPr>
          <a:xfrm xmlns:a="http://schemas.openxmlformats.org/drawingml/2006/main">
            <a:off x="0" y="0"/>
            <a:ext cx="12192000" cy="838200"/>
          </a:xfrm>
          <a:prstGeom xmlns:a="http://schemas.openxmlformats.org/drawingml/2006/main" prst="rect">
            <a:avLst/>
          </a:prstGeom>
          <a:solidFill xmlns:a="http://schemas.openxmlformats.org/drawingml/2006/main">
            <a:srgbClr val="24465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7A1732F-94C7-4B2B-9FEF-A6621F160291}"/>
              </a:ext>
            </a:extLst>
          </p:cNvPr>
          <p:cNvSpPr>
            <a:spLocks xmlns:a="http://schemas.openxmlformats.org/drawingml/2006/main" noGrp="1"/>
          </p:cNvSpPr>
          <p:nvPr/>
        </p:nvSpPr>
        <p:spPr>
          <a:xfrm xmlns:a="http://schemas.openxmlformats.org/drawingml/2006/main">
            <a:off x="609600" y="266700"/>
            <a:ext cx="5143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Fuzzy věkové rozdělení</a:t>
            </a:r>
          </a:p>
        </p:txBody>
      </p:sp>
      <p:sp>
        <p:nvSpPr>
          <p:cNvPr id="4" name="">
            <a:extLst xmlns:a="http://schemas.openxmlformats.org/drawingml/2006/main">
              <a:ext uri="{FF2B5EF4-FFF2-40B4-BE49-F238E27FC236}">
                <a16:creationId xmlns:a16="http://schemas.microsoft.com/office/drawing/2014/main" id="{9FAAD582-1B37-47C1-ADE7-5F8C248A9C2A}"/>
              </a:ext>
            </a:extLst>
          </p:cNvPr>
          <p:cNvSpPr>
            <a:spLocks xmlns:a="http://schemas.openxmlformats.org/drawingml/2006/main" noGrp="1"/>
          </p:cNvSpPr>
          <p:nvPr/>
        </p:nvSpPr>
        <p:spPr>
          <a:xfrm xmlns:a="http://schemas.openxmlformats.org/drawingml/2006/main">
            <a:off x="11049000" y="266700"/>
            <a:ext cx="571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FFFFFF"/>
                </a:solidFill>
                <a:latin typeface="Aptos"/>
                <a:ea typeface="Aptos"/>
                <a:cs typeface="Aptos"/>
              </a:defRPr>
            </a:pPr>
            <a:r>
              <a:rPr sz="1200" b="1">
                <a:solidFill>
                  <a:srgbClr val="FFFFFF"/>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8E3E4C09-4DC2-4CE1-9D94-2C4DE7D41B62}"/>
              </a:ext>
            </a:extLst>
          </p:cNvPr>
          <p:cNvSpPr>
            <a:spLocks xmlns:a="http://schemas.openxmlformats.org/drawingml/2006/main" noGrp="1"/>
          </p:cNvSpPr>
          <p:nvPr/>
        </p:nvSpPr>
        <p:spPr>
          <a:xfrm xmlns:a="http://schemas.openxmlformats.org/drawingml/2006/main">
            <a:off x="609600" y="1143000"/>
            <a:ext cx="8763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550" b="1">
                <a:solidFill>
                  <a:srgbClr val="17212B"/>
                </a:solidFill>
                <a:latin typeface="Aptos Display"/>
                <a:ea typeface="Aptos Display"/>
                <a:cs typeface="Aptos Display"/>
              </a:defRPr>
            </a:pPr>
            <a:r>
              <a:rPr sz="2550" b="1">
                <a:solidFill>
                  <a:srgbClr val="17212B"/>
                </a:solidFill>
                <a:latin typeface="Aptos Display"/>
                <a:ea typeface="Aptos Display"/>
                <a:cs typeface="Aptos Display"/>
              </a:rPr>
              <a:t>Jak výsledek interpretovat</a:t>
            </a:r>
          </a:p>
        </p:txBody>
      </p:sp>
      <p:sp>
        <p:nvSpPr>
          <p:cNvPr id="6" name="">
            <a:extLst xmlns:a="http://schemas.openxmlformats.org/drawingml/2006/main">
              <a:ext uri="{FF2B5EF4-FFF2-40B4-BE49-F238E27FC236}">
                <a16:creationId xmlns:a16="http://schemas.microsoft.com/office/drawing/2014/main" id="{EC8C0A5E-EF7D-466B-AAB5-00904EA19104}"/>
              </a:ext>
            </a:extLst>
          </p:cNvPr>
          <p:cNvSpPr>
            <a:spLocks xmlns:a="http://schemas.openxmlformats.org/drawingml/2006/main" noGrp="1"/>
          </p:cNvSpPr>
          <p:nvPr/>
        </p:nvSpPr>
        <p:spPr>
          <a:xfrm xmlns:a="http://schemas.openxmlformats.org/drawingml/2006/main">
            <a:off x="876300" y="2181225"/>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FDB95B3-962E-4B09-96E8-470A3D5443DB}"/>
              </a:ext>
            </a:extLst>
          </p:cNvPr>
          <p:cNvSpPr>
            <a:spLocks xmlns:a="http://schemas.openxmlformats.org/drawingml/2006/main" noGrp="1"/>
          </p:cNvSpPr>
          <p:nvPr/>
        </p:nvSpPr>
        <p:spPr>
          <a:xfrm xmlns:a="http://schemas.openxmlformats.org/drawingml/2006/main">
            <a:off x="1143000" y="2095500"/>
            <a:ext cx="6096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17212B"/>
                </a:solidFill>
                <a:latin typeface="Aptos"/>
                <a:ea typeface="Aptos"/>
                <a:cs typeface="Aptos"/>
              </a:defRPr>
            </a:pPr>
            <a:r>
              <a:rPr sz="1800" b="0">
                <a:solidFill>
                  <a:srgbClr val="17212B"/>
                </a:solidFill>
                <a:latin typeface="Aptos"/>
                <a:ea typeface="Aptos"/>
                <a:cs typeface="Aptos"/>
              </a:rPr>
              <a:t>Výstupem není jedna pevná škatulka, ale několik stupňů příslušnosti.</a:t>
            </a:r>
          </a:p>
        </p:txBody>
      </p:sp>
      <p:sp>
        <p:nvSpPr>
          <p:cNvPr id="8" name="">
            <a:extLst xmlns:a="http://schemas.openxmlformats.org/drawingml/2006/main">
              <a:ext uri="{FF2B5EF4-FFF2-40B4-BE49-F238E27FC236}">
                <a16:creationId xmlns:a16="http://schemas.microsoft.com/office/drawing/2014/main" id="{DEB919D2-E8F1-4D73-9E43-A3C393A3F0B1}"/>
              </a:ext>
            </a:extLst>
          </p:cNvPr>
          <p:cNvSpPr>
            <a:spLocks xmlns:a="http://schemas.openxmlformats.org/drawingml/2006/main" noGrp="1"/>
          </p:cNvSpPr>
          <p:nvPr/>
        </p:nvSpPr>
        <p:spPr>
          <a:xfrm xmlns:a="http://schemas.openxmlformats.org/drawingml/2006/main">
            <a:off x="876300" y="2790825"/>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20318527-925B-4905-A61D-92B13DB19373}"/>
              </a:ext>
            </a:extLst>
          </p:cNvPr>
          <p:cNvSpPr>
            <a:spLocks xmlns:a="http://schemas.openxmlformats.org/drawingml/2006/main" noGrp="1"/>
          </p:cNvSpPr>
          <p:nvPr/>
        </p:nvSpPr>
        <p:spPr>
          <a:xfrm xmlns:a="http://schemas.openxmlformats.org/drawingml/2006/main">
            <a:off x="1143000" y="2705100"/>
            <a:ext cx="6096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17212B"/>
                </a:solidFill>
                <a:latin typeface="Aptos"/>
                <a:ea typeface="Aptos"/>
                <a:cs typeface="Aptos"/>
              </a:defRPr>
            </a:pPr>
            <a:r>
              <a:rPr sz="1800" b="0">
                <a:solidFill>
                  <a:srgbClr val="17212B"/>
                </a:solidFill>
                <a:latin typeface="Aptos"/>
                <a:ea typeface="Aptos"/>
                <a:cs typeface="Aptos"/>
              </a:rPr>
              <a:t>Překryvy odpovídají tomu, jak lidé přirozeně mluví o věku.</a:t>
            </a:r>
          </a:p>
        </p:txBody>
      </p:sp>
      <p:sp>
        <p:nvSpPr>
          <p:cNvPr id="10" name="">
            <a:extLst xmlns:a="http://schemas.openxmlformats.org/drawingml/2006/main">
              <a:ext uri="{FF2B5EF4-FFF2-40B4-BE49-F238E27FC236}">
                <a16:creationId xmlns:a16="http://schemas.microsoft.com/office/drawing/2014/main" id="{A2782D7B-E581-4052-86AF-1865BB381671}"/>
              </a:ext>
            </a:extLst>
          </p:cNvPr>
          <p:cNvSpPr>
            <a:spLocks xmlns:a="http://schemas.openxmlformats.org/drawingml/2006/main" noGrp="1"/>
          </p:cNvSpPr>
          <p:nvPr/>
        </p:nvSpPr>
        <p:spPr>
          <a:xfrm xmlns:a="http://schemas.openxmlformats.org/drawingml/2006/main">
            <a:off x="876300" y="3400425"/>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41D70863-A826-41C8-9C38-D403C115D284}"/>
              </a:ext>
            </a:extLst>
          </p:cNvPr>
          <p:cNvSpPr>
            <a:spLocks xmlns:a="http://schemas.openxmlformats.org/drawingml/2006/main" noGrp="1"/>
          </p:cNvSpPr>
          <p:nvPr/>
        </p:nvSpPr>
        <p:spPr>
          <a:xfrm xmlns:a="http://schemas.openxmlformats.org/drawingml/2006/main">
            <a:off x="1143000" y="3314700"/>
            <a:ext cx="6096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17212B"/>
                </a:solidFill>
                <a:latin typeface="Aptos"/>
                <a:ea typeface="Aptos"/>
                <a:cs typeface="Aptos"/>
              </a:defRPr>
            </a:pPr>
            <a:r>
              <a:rPr sz="1800" b="0">
                <a:solidFill>
                  <a:srgbClr val="17212B"/>
                </a:solidFill>
                <a:latin typeface="Aptos"/>
                <a:ea typeface="Aptos"/>
                <a:cs typeface="Aptos"/>
              </a:rPr>
              <a:t>Model je jednoduchý, přehledný a snadno upravitelný.</a:t>
            </a:r>
          </a:p>
        </p:txBody>
      </p:sp>
      <p:sp>
        <p:nvSpPr>
          <p:cNvPr id="12" name="">
            <a:extLst xmlns:a="http://schemas.openxmlformats.org/drawingml/2006/main">
              <a:ext uri="{FF2B5EF4-FFF2-40B4-BE49-F238E27FC236}">
                <a16:creationId xmlns:a16="http://schemas.microsoft.com/office/drawing/2014/main" id="{A913B590-43FE-44B3-90D5-4FD637B183AF}"/>
              </a:ext>
            </a:extLst>
          </p:cNvPr>
          <p:cNvSpPr>
            <a:spLocks xmlns:a="http://schemas.openxmlformats.org/drawingml/2006/main" noGrp="1"/>
          </p:cNvSpPr>
          <p:nvPr/>
        </p:nvSpPr>
        <p:spPr>
          <a:xfrm xmlns:a="http://schemas.openxmlformats.org/drawingml/2006/main">
            <a:off x="8096250" y="2038350"/>
            <a:ext cx="29527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13" name="">
            <a:extLst xmlns:a="http://schemas.openxmlformats.org/drawingml/2006/main">
              <a:ext uri="{FF2B5EF4-FFF2-40B4-BE49-F238E27FC236}">
                <a16:creationId xmlns:a16="http://schemas.microsoft.com/office/drawing/2014/main" id="{8242554C-5D01-45B2-8C08-9F36927CF75A}"/>
              </a:ext>
            </a:extLst>
          </p:cNvPr>
          <p:cNvSpPr>
            <a:spLocks xmlns:a="http://schemas.openxmlformats.org/drawingml/2006/main" noGrp="1"/>
          </p:cNvSpPr>
          <p:nvPr/>
        </p:nvSpPr>
        <p:spPr>
          <a:xfrm xmlns:a="http://schemas.openxmlformats.org/drawingml/2006/main">
            <a:off x="8324850" y="2190750"/>
            <a:ext cx="1047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650" b="1">
                <a:solidFill>
                  <a:srgbClr val="24465A"/>
                </a:solidFill>
                <a:latin typeface="Aptos"/>
                <a:ea typeface="Aptos"/>
                <a:cs typeface="Aptos"/>
              </a:defRPr>
            </a:pPr>
            <a:r>
              <a:rPr sz="1650" b="1">
                <a:solidFill>
                  <a:srgbClr val="24465A"/>
                </a:solidFill>
                <a:latin typeface="Aptos"/>
                <a:ea typeface="Aptos"/>
                <a:cs typeface="Aptos"/>
              </a:rPr>
              <a:t>15 let</a:t>
            </a:r>
          </a:p>
        </p:txBody>
      </p:sp>
      <p:sp>
        <p:nvSpPr>
          <p:cNvPr id="14" name="">
            <a:extLst xmlns:a="http://schemas.openxmlformats.org/drawingml/2006/main">
              <a:ext uri="{FF2B5EF4-FFF2-40B4-BE49-F238E27FC236}">
                <a16:creationId xmlns:a16="http://schemas.microsoft.com/office/drawing/2014/main" id="{AB6FADFE-0F2A-4971-A4F2-1EAD02650032}"/>
              </a:ext>
            </a:extLst>
          </p:cNvPr>
          <p:cNvSpPr>
            <a:spLocks xmlns:a="http://schemas.openxmlformats.org/drawingml/2006/main" noGrp="1"/>
          </p:cNvSpPr>
          <p:nvPr/>
        </p:nvSpPr>
        <p:spPr>
          <a:xfrm xmlns:a="http://schemas.openxmlformats.org/drawingml/2006/main">
            <a:off x="8324850" y="2495550"/>
            <a:ext cx="2381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26173"/>
                </a:solidFill>
                <a:latin typeface="Aptos"/>
                <a:ea typeface="Aptos"/>
                <a:cs typeface="Aptos"/>
              </a:defRPr>
            </a:pPr>
            <a:r>
              <a:rPr sz="1200" b="0">
                <a:solidFill>
                  <a:srgbClr val="526173"/>
                </a:solidFill>
                <a:latin typeface="Aptos"/>
                <a:ea typeface="Aptos"/>
                <a:cs typeface="Aptos"/>
              </a:rPr>
              <a:t>malí 0,17 | mladí 0,38</a:t>
            </a:r>
          </a:p>
        </p:txBody>
      </p:sp>
      <p:sp>
        <p:nvSpPr>
          <p:cNvPr id="15" name="">
            <a:extLst xmlns:a="http://schemas.openxmlformats.org/drawingml/2006/main">
              <a:ext uri="{FF2B5EF4-FFF2-40B4-BE49-F238E27FC236}">
                <a16:creationId xmlns:a16="http://schemas.microsoft.com/office/drawing/2014/main" id="{338E8400-D1CA-4125-A28B-C44CEDAB2730}"/>
              </a:ext>
            </a:extLst>
          </p:cNvPr>
          <p:cNvSpPr>
            <a:spLocks xmlns:a="http://schemas.openxmlformats.org/drawingml/2006/main" noGrp="1"/>
          </p:cNvSpPr>
          <p:nvPr/>
        </p:nvSpPr>
        <p:spPr>
          <a:xfrm xmlns:a="http://schemas.openxmlformats.org/drawingml/2006/main">
            <a:off x="8096250" y="3086100"/>
            <a:ext cx="2952750" cy="781050"/>
          </a:xfrm>
          <a:prstGeom xmlns:a="http://schemas.openxmlformats.org/drawingml/2006/main" prst="rect">
            <a:avLst/>
          </a:prstGeom>
          <a:solidFill xmlns:a="http://schemas.openxmlformats.org/drawingml/2006/main">
            <a:srgbClr val="ECF6EF"/>
          </a:solidFill>
          <a:ln xmlns:a="http://schemas.openxmlformats.org/drawingml/2006/main" w="9525">
            <a:solidFill>
              <a:srgbClr val="D9DEE7"/>
            </a:solidFill>
            <a:prstDash val="solid"/>
          </a:ln>
        </p:spPr>
      </p:sp>
      <p:sp>
        <p:nvSpPr>
          <p:cNvPr id="16" name="">
            <a:extLst xmlns:a="http://schemas.openxmlformats.org/drawingml/2006/main">
              <a:ext uri="{FF2B5EF4-FFF2-40B4-BE49-F238E27FC236}">
                <a16:creationId xmlns:a16="http://schemas.microsoft.com/office/drawing/2014/main" id="{F18D9679-1F14-4EE6-8ADE-AE139028B9C1}"/>
              </a:ext>
            </a:extLst>
          </p:cNvPr>
          <p:cNvSpPr>
            <a:spLocks xmlns:a="http://schemas.openxmlformats.org/drawingml/2006/main" noGrp="1"/>
          </p:cNvSpPr>
          <p:nvPr/>
        </p:nvSpPr>
        <p:spPr>
          <a:xfrm xmlns:a="http://schemas.openxmlformats.org/drawingml/2006/main">
            <a:off x="8324850" y="3238500"/>
            <a:ext cx="1047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650" b="1">
                <a:solidFill>
                  <a:srgbClr val="24465A"/>
                </a:solidFill>
                <a:latin typeface="Aptos"/>
                <a:ea typeface="Aptos"/>
                <a:cs typeface="Aptos"/>
              </a:defRPr>
            </a:pPr>
            <a:r>
              <a:rPr sz="1650" b="1">
                <a:solidFill>
                  <a:srgbClr val="24465A"/>
                </a:solidFill>
                <a:latin typeface="Aptos"/>
                <a:ea typeface="Aptos"/>
                <a:cs typeface="Aptos"/>
              </a:rPr>
              <a:t>35 let</a:t>
            </a:r>
          </a:p>
        </p:txBody>
      </p:sp>
      <p:sp>
        <p:nvSpPr>
          <p:cNvPr id="17" name="">
            <a:extLst xmlns:a="http://schemas.openxmlformats.org/drawingml/2006/main">
              <a:ext uri="{FF2B5EF4-FFF2-40B4-BE49-F238E27FC236}">
                <a16:creationId xmlns:a16="http://schemas.microsoft.com/office/drawing/2014/main" id="{CB16B4E9-3129-4212-9667-C449B707D7AA}"/>
              </a:ext>
            </a:extLst>
          </p:cNvPr>
          <p:cNvSpPr>
            <a:spLocks xmlns:a="http://schemas.openxmlformats.org/drawingml/2006/main" noGrp="1"/>
          </p:cNvSpPr>
          <p:nvPr/>
        </p:nvSpPr>
        <p:spPr>
          <a:xfrm xmlns:a="http://schemas.openxmlformats.org/drawingml/2006/main">
            <a:off x="8324850" y="3543300"/>
            <a:ext cx="2381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26173"/>
                </a:solidFill>
                <a:latin typeface="Aptos"/>
                <a:ea typeface="Aptos"/>
                <a:cs typeface="Aptos"/>
              </a:defRPr>
            </a:pPr>
            <a:r>
              <a:rPr sz="1200" b="0">
                <a:solidFill>
                  <a:srgbClr val="526173"/>
                </a:solidFill>
                <a:latin typeface="Aptos"/>
                <a:ea typeface="Aptos"/>
                <a:cs typeface="Aptos"/>
              </a:rPr>
              <a:t>mladí 0,42 | střední 0,42</a:t>
            </a:r>
          </a:p>
        </p:txBody>
      </p:sp>
      <p:sp>
        <p:nvSpPr>
          <p:cNvPr id="18" name="">
            <a:extLst xmlns:a="http://schemas.openxmlformats.org/drawingml/2006/main">
              <a:ext uri="{FF2B5EF4-FFF2-40B4-BE49-F238E27FC236}">
                <a16:creationId xmlns:a16="http://schemas.microsoft.com/office/drawing/2014/main" id="{9A5BB47F-7FBF-494C-9E73-F89B4E385835}"/>
              </a:ext>
            </a:extLst>
          </p:cNvPr>
          <p:cNvSpPr>
            <a:spLocks xmlns:a="http://schemas.openxmlformats.org/drawingml/2006/main" noGrp="1"/>
          </p:cNvSpPr>
          <p:nvPr/>
        </p:nvSpPr>
        <p:spPr>
          <a:xfrm xmlns:a="http://schemas.openxmlformats.org/drawingml/2006/main">
            <a:off x="8096250" y="4133850"/>
            <a:ext cx="29527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19" name="">
            <a:extLst xmlns:a="http://schemas.openxmlformats.org/drawingml/2006/main">
              <a:ext uri="{FF2B5EF4-FFF2-40B4-BE49-F238E27FC236}">
                <a16:creationId xmlns:a16="http://schemas.microsoft.com/office/drawing/2014/main" id="{9FAFF41D-9ECB-49A1-A19A-5ED2FE3130FE}"/>
              </a:ext>
            </a:extLst>
          </p:cNvPr>
          <p:cNvSpPr>
            <a:spLocks xmlns:a="http://schemas.openxmlformats.org/drawingml/2006/main" noGrp="1"/>
          </p:cNvSpPr>
          <p:nvPr/>
        </p:nvSpPr>
        <p:spPr>
          <a:xfrm xmlns:a="http://schemas.openxmlformats.org/drawingml/2006/main">
            <a:off x="8324850" y="4286250"/>
            <a:ext cx="1047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650" b="1">
                <a:solidFill>
                  <a:srgbClr val="24465A"/>
                </a:solidFill>
                <a:latin typeface="Aptos"/>
                <a:ea typeface="Aptos"/>
                <a:cs typeface="Aptos"/>
              </a:defRPr>
            </a:pPr>
            <a:r>
              <a:rPr sz="1650" b="1">
                <a:solidFill>
                  <a:srgbClr val="24465A"/>
                </a:solidFill>
                <a:latin typeface="Aptos"/>
                <a:ea typeface="Aptos"/>
                <a:cs typeface="Aptos"/>
              </a:rPr>
              <a:t>85 let</a:t>
            </a:r>
          </a:p>
        </p:txBody>
      </p:sp>
      <p:sp>
        <p:nvSpPr>
          <p:cNvPr id="20" name="">
            <a:extLst xmlns:a="http://schemas.openxmlformats.org/drawingml/2006/main">
              <a:ext uri="{FF2B5EF4-FFF2-40B4-BE49-F238E27FC236}">
                <a16:creationId xmlns:a16="http://schemas.microsoft.com/office/drawing/2014/main" id="{C23E8988-8106-41A5-AA8B-7B3508626094}"/>
              </a:ext>
            </a:extLst>
          </p:cNvPr>
          <p:cNvSpPr>
            <a:spLocks xmlns:a="http://schemas.openxmlformats.org/drawingml/2006/main" noGrp="1"/>
          </p:cNvSpPr>
          <p:nvPr/>
        </p:nvSpPr>
        <p:spPr>
          <a:xfrm xmlns:a="http://schemas.openxmlformats.org/drawingml/2006/main">
            <a:off x="8324850" y="4591050"/>
            <a:ext cx="2381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26173"/>
                </a:solidFill>
                <a:latin typeface="Aptos"/>
                <a:ea typeface="Aptos"/>
                <a:cs typeface="Aptos"/>
              </a:defRPr>
            </a:pPr>
            <a:r>
              <a:rPr sz="1200" b="0">
                <a:solidFill>
                  <a:srgbClr val="526173"/>
                </a:solidFill>
                <a:latin typeface="Aptos"/>
                <a:ea typeface="Aptos"/>
                <a:cs typeface="Aptos"/>
              </a:rPr>
              <a:t>staří 0,63 | nejstarší 0,50</a:t>
            </a:r>
          </a:p>
        </p:txBody>
      </p:sp>
    </p:spTree>
    <p:extLst>
      <p:ext uri="{BB962C8B-B14F-4D97-AF65-F5344CB8AC3E}">
        <p14:creationId xmlns:p14="http://schemas.microsoft.com/office/powerpoint/2010/main" val="124445559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6E0DB14-9F56-49F5-8832-59BDCA8A86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9"/>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34F5FBB-FB69-45D2-8D17-4968152C14BA}"/>
              </a:ext>
            </a:extLst>
          </p:cNvPr>
          <p:cNvSpPr>
            <a:spLocks xmlns:a="http://schemas.openxmlformats.org/drawingml/2006/main" noGrp="1"/>
          </p:cNvSpPr>
          <p:nvPr/>
        </p:nvSpPr>
        <p:spPr>
          <a:xfrm xmlns:a="http://schemas.openxmlformats.org/drawingml/2006/main">
            <a:off x="0" y="0"/>
            <a:ext cx="12192000" cy="838200"/>
          </a:xfrm>
          <a:prstGeom xmlns:a="http://schemas.openxmlformats.org/drawingml/2006/main" prst="rect">
            <a:avLst/>
          </a:prstGeom>
          <a:solidFill xmlns:a="http://schemas.openxmlformats.org/drawingml/2006/main">
            <a:srgbClr val="24465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E2E0F4E-B8FF-4548-8656-D423B9600C94}"/>
              </a:ext>
            </a:extLst>
          </p:cNvPr>
          <p:cNvSpPr>
            <a:spLocks xmlns:a="http://schemas.openxmlformats.org/drawingml/2006/main" noGrp="1"/>
          </p:cNvSpPr>
          <p:nvPr/>
        </p:nvSpPr>
        <p:spPr>
          <a:xfrm xmlns:a="http://schemas.openxmlformats.org/drawingml/2006/main">
            <a:off x="609600" y="266700"/>
            <a:ext cx="5143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Fuzzy věkové rozdělení</a:t>
            </a:r>
          </a:p>
        </p:txBody>
      </p:sp>
      <p:sp>
        <p:nvSpPr>
          <p:cNvPr id="4" name="">
            <a:extLst xmlns:a="http://schemas.openxmlformats.org/drawingml/2006/main">
              <a:ext uri="{FF2B5EF4-FFF2-40B4-BE49-F238E27FC236}">
                <a16:creationId xmlns:a16="http://schemas.microsoft.com/office/drawing/2014/main" id="{57790AE2-1D49-4A33-9302-E30EC91CEB4F}"/>
              </a:ext>
            </a:extLst>
          </p:cNvPr>
          <p:cNvSpPr>
            <a:spLocks xmlns:a="http://schemas.openxmlformats.org/drawingml/2006/main" noGrp="1"/>
          </p:cNvSpPr>
          <p:nvPr/>
        </p:nvSpPr>
        <p:spPr>
          <a:xfrm xmlns:a="http://schemas.openxmlformats.org/drawingml/2006/main">
            <a:off x="11049000" y="266700"/>
            <a:ext cx="571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FFFFFF"/>
                </a:solidFill>
                <a:latin typeface="Aptos"/>
                <a:ea typeface="Aptos"/>
                <a:cs typeface="Aptos"/>
              </a:defRPr>
            </a:pPr>
            <a:r>
              <a:rPr sz="1200" b="1">
                <a:solidFill>
                  <a:srgbClr val="FFFFFF"/>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47A6F4FB-E64A-4C67-BF35-63BE0ABF0246}"/>
              </a:ext>
            </a:extLst>
          </p:cNvPr>
          <p:cNvSpPr>
            <a:spLocks xmlns:a="http://schemas.openxmlformats.org/drawingml/2006/main" noGrp="1"/>
          </p:cNvSpPr>
          <p:nvPr/>
        </p:nvSpPr>
        <p:spPr>
          <a:xfrm xmlns:a="http://schemas.openxmlformats.org/drawingml/2006/main">
            <a:off x="609600" y="1143000"/>
            <a:ext cx="8763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550" b="1">
                <a:solidFill>
                  <a:srgbClr val="17212B"/>
                </a:solidFill>
                <a:latin typeface="Aptos Display"/>
                <a:ea typeface="Aptos Display"/>
                <a:cs typeface="Aptos Display"/>
              </a:defRPr>
            </a:pPr>
            <a:r>
              <a:rPr sz="2550" b="1">
                <a:solidFill>
                  <a:srgbClr val="17212B"/>
                </a:solidFill>
                <a:latin typeface="Aptos Display"/>
                <a:ea typeface="Aptos Display"/>
                <a:cs typeface="Aptos Display"/>
              </a:rPr>
              <a:t>Shrnutí projektu</a:t>
            </a:r>
          </a:p>
        </p:txBody>
      </p:sp>
      <p:sp>
        <p:nvSpPr>
          <p:cNvPr id="6" name="">
            <a:extLst xmlns:a="http://schemas.openxmlformats.org/drawingml/2006/main">
              <a:ext uri="{FF2B5EF4-FFF2-40B4-BE49-F238E27FC236}">
                <a16:creationId xmlns:a16="http://schemas.microsoft.com/office/drawing/2014/main" id="{51405D56-6C6D-445B-A7F1-1D72992DB99C}"/>
              </a:ext>
            </a:extLst>
          </p:cNvPr>
          <p:cNvSpPr>
            <a:spLocks xmlns:a="http://schemas.openxmlformats.org/drawingml/2006/main" noGrp="1"/>
          </p:cNvSpPr>
          <p:nvPr/>
        </p:nvSpPr>
        <p:spPr>
          <a:xfrm xmlns:a="http://schemas.openxmlformats.org/drawingml/2006/main">
            <a:off x="876300" y="2181225"/>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E6B87684-6C49-433C-926E-3066C7A11278}"/>
              </a:ext>
            </a:extLst>
          </p:cNvPr>
          <p:cNvSpPr>
            <a:spLocks xmlns:a="http://schemas.openxmlformats.org/drawingml/2006/main" noGrp="1"/>
          </p:cNvSpPr>
          <p:nvPr/>
        </p:nvSpPr>
        <p:spPr>
          <a:xfrm xmlns:a="http://schemas.openxmlformats.org/drawingml/2006/main">
            <a:off x="1143000" y="2095500"/>
            <a:ext cx="7810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17212B"/>
                </a:solidFill>
                <a:latin typeface="Aptos"/>
                <a:ea typeface="Aptos"/>
                <a:cs typeface="Aptos"/>
              </a:defRPr>
            </a:pPr>
            <a:r>
              <a:rPr sz="1800" b="0">
                <a:solidFill>
                  <a:srgbClr val="17212B"/>
                </a:solidFill>
                <a:latin typeface="Aptos"/>
                <a:ea typeface="Aptos"/>
                <a:cs typeface="Aptos"/>
              </a:rPr>
              <a:t>Zadání je splněné: fuzzy množiny jsou zobrazené tabulkou i grafem.</a:t>
            </a:r>
          </a:p>
        </p:txBody>
      </p:sp>
      <p:sp>
        <p:nvSpPr>
          <p:cNvPr id="8" name="">
            <a:extLst xmlns:a="http://schemas.openxmlformats.org/drawingml/2006/main">
              <a:ext uri="{FF2B5EF4-FFF2-40B4-BE49-F238E27FC236}">
                <a16:creationId xmlns:a16="http://schemas.microsoft.com/office/drawing/2014/main" id="{0106FDFC-A4B2-4F15-84D6-D1260B2C9D20}"/>
              </a:ext>
            </a:extLst>
          </p:cNvPr>
          <p:cNvSpPr>
            <a:spLocks xmlns:a="http://schemas.openxmlformats.org/drawingml/2006/main" noGrp="1"/>
          </p:cNvSpPr>
          <p:nvPr/>
        </p:nvSpPr>
        <p:spPr>
          <a:xfrm xmlns:a="http://schemas.openxmlformats.org/drawingml/2006/main">
            <a:off x="876300" y="2790825"/>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BDF8F2EB-6077-4477-9E04-D2DF5C74B099}"/>
              </a:ext>
            </a:extLst>
          </p:cNvPr>
          <p:cNvSpPr>
            <a:spLocks xmlns:a="http://schemas.openxmlformats.org/drawingml/2006/main" noGrp="1"/>
          </p:cNvSpPr>
          <p:nvPr/>
        </p:nvSpPr>
        <p:spPr>
          <a:xfrm xmlns:a="http://schemas.openxmlformats.org/drawingml/2006/main">
            <a:off x="1143000" y="2705100"/>
            <a:ext cx="7810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17212B"/>
                </a:solidFill>
                <a:latin typeface="Aptos"/>
                <a:ea typeface="Aptos"/>
                <a:cs typeface="Aptos"/>
              </a:defRPr>
            </a:pPr>
            <a:r>
              <a:rPr sz="1800" b="0">
                <a:solidFill>
                  <a:srgbClr val="17212B"/>
                </a:solidFill>
                <a:latin typeface="Aptos"/>
                <a:ea typeface="Aptos"/>
                <a:cs typeface="Aptos"/>
              </a:rPr>
              <a:t>Věkové kategorie nepoužívají pevnou hranici, ale plynulý přechod.</a:t>
            </a:r>
          </a:p>
        </p:txBody>
      </p:sp>
      <p:sp>
        <p:nvSpPr>
          <p:cNvPr id="10" name="">
            <a:extLst xmlns:a="http://schemas.openxmlformats.org/drawingml/2006/main">
              <a:ext uri="{FF2B5EF4-FFF2-40B4-BE49-F238E27FC236}">
                <a16:creationId xmlns:a16="http://schemas.microsoft.com/office/drawing/2014/main" id="{AABFA964-E6F5-4DE8-9CAB-0632FBD37084}"/>
              </a:ext>
            </a:extLst>
          </p:cNvPr>
          <p:cNvSpPr>
            <a:spLocks xmlns:a="http://schemas.openxmlformats.org/drawingml/2006/main" noGrp="1"/>
          </p:cNvSpPr>
          <p:nvPr/>
        </p:nvSpPr>
        <p:spPr>
          <a:xfrm xmlns:a="http://schemas.openxmlformats.org/drawingml/2006/main">
            <a:off x="876300" y="3400425"/>
            <a:ext cx="114300" cy="1143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36B3BDA-A4F9-42AB-8F93-A44D391EFB37}"/>
              </a:ext>
            </a:extLst>
          </p:cNvPr>
          <p:cNvSpPr>
            <a:spLocks xmlns:a="http://schemas.openxmlformats.org/drawingml/2006/main" noGrp="1"/>
          </p:cNvSpPr>
          <p:nvPr/>
        </p:nvSpPr>
        <p:spPr>
          <a:xfrm xmlns:a="http://schemas.openxmlformats.org/drawingml/2006/main">
            <a:off x="1143000" y="3314700"/>
            <a:ext cx="7810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17212B"/>
                </a:solidFill>
                <a:latin typeface="Aptos"/>
                <a:ea typeface="Aptos"/>
                <a:cs typeface="Aptos"/>
              </a:defRPr>
            </a:pPr>
            <a:r>
              <a:rPr sz="1800" b="0">
                <a:solidFill>
                  <a:srgbClr val="17212B"/>
                </a:solidFill>
                <a:latin typeface="Aptos"/>
                <a:ea typeface="Aptos"/>
                <a:cs typeface="Aptos"/>
              </a:rPr>
              <a:t>Webová aplikace ukazuje příslušnosti pro libovolně zvolený věk.</a:t>
            </a:r>
          </a:p>
        </p:txBody>
      </p:sp>
      <p:sp>
        <p:nvSpPr>
          <p:cNvPr id="12" name="">
            <a:extLst xmlns:a="http://schemas.openxmlformats.org/drawingml/2006/main">
              <a:ext uri="{FF2B5EF4-FFF2-40B4-BE49-F238E27FC236}">
                <a16:creationId xmlns:a16="http://schemas.microsoft.com/office/drawing/2014/main" id="{AB69F380-8561-48C6-A388-6705D2CDEFA3}"/>
              </a:ext>
            </a:extLst>
          </p:cNvPr>
          <p:cNvSpPr>
            <a:spLocks xmlns:a="http://schemas.openxmlformats.org/drawingml/2006/main" noGrp="1"/>
          </p:cNvSpPr>
          <p:nvPr/>
        </p:nvSpPr>
        <p:spPr>
          <a:xfrm xmlns:a="http://schemas.openxmlformats.org/drawingml/2006/main">
            <a:off x="876300" y="4686300"/>
            <a:ext cx="8953500" cy="1028700"/>
          </a:xfrm>
          <a:prstGeom xmlns:a="http://schemas.openxmlformats.org/drawingml/2006/main" prst="rect">
            <a:avLst/>
          </a:prstGeom>
          <a:solidFill xmlns:a="http://schemas.openxmlformats.org/drawingml/2006/main">
            <a:srgbClr val="EAF2F6"/>
          </a:solidFill>
          <a:ln xmlns:a="http://schemas.openxmlformats.org/drawingml/2006/main" w="9525">
            <a:solidFill>
              <a:srgbClr val="D9DEE7"/>
            </a:solidFill>
            <a:prstDash val="solid"/>
          </a:ln>
        </p:spPr>
      </p:sp>
      <p:sp>
        <p:nvSpPr>
          <p:cNvPr id="13" name="">
            <a:extLst xmlns:a="http://schemas.openxmlformats.org/drawingml/2006/main">
              <a:ext uri="{FF2B5EF4-FFF2-40B4-BE49-F238E27FC236}">
                <a16:creationId xmlns:a16="http://schemas.microsoft.com/office/drawing/2014/main" id="{74165287-3215-4B94-9FC7-E1E85E2AB508}"/>
              </a:ext>
            </a:extLst>
          </p:cNvPr>
          <p:cNvSpPr>
            <a:spLocks xmlns:a="http://schemas.openxmlformats.org/drawingml/2006/main" noGrp="1"/>
          </p:cNvSpPr>
          <p:nvPr/>
        </p:nvSpPr>
        <p:spPr>
          <a:xfrm xmlns:a="http://schemas.openxmlformats.org/drawingml/2006/main">
            <a:off x="876300" y="4686300"/>
            <a:ext cx="76200" cy="1028700"/>
          </a:xfrm>
          <a:prstGeom xmlns:a="http://schemas.openxmlformats.org/drawingml/2006/main" prst="rect">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0466497-5676-46D9-8853-38E40A3405C9}"/>
              </a:ext>
            </a:extLst>
          </p:cNvPr>
          <p:cNvSpPr>
            <a:spLocks xmlns:a="http://schemas.openxmlformats.org/drawingml/2006/main" noGrp="1"/>
          </p:cNvSpPr>
          <p:nvPr/>
        </p:nvSpPr>
        <p:spPr>
          <a:xfrm xmlns:a="http://schemas.openxmlformats.org/drawingml/2006/main">
            <a:off x="1143000" y="4876800"/>
            <a:ext cx="84963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17212B"/>
                </a:solidFill>
                <a:latin typeface="Aptos"/>
                <a:ea typeface="Aptos"/>
                <a:cs typeface="Aptos"/>
              </a:defRPr>
            </a:pPr>
            <a:r>
              <a:rPr sz="1800" b="1">
                <a:solidFill>
                  <a:srgbClr val="17212B"/>
                </a:solidFill>
                <a:latin typeface="Aptos"/>
                <a:ea typeface="Aptos"/>
                <a:cs typeface="Aptos"/>
              </a:rPr>
              <a:t>Výsledek převádí běžné slovní pojmy o věku do jednoduchého matematického modelu.</a:t>
            </a:r>
          </a:p>
        </p:txBody>
      </p:sp>
      <p:sp>
        <p:nvSpPr>
          <p:cNvPr id="15" name="">
            <a:extLst xmlns:a="http://schemas.openxmlformats.org/drawingml/2006/main">
              <a:ext uri="{FF2B5EF4-FFF2-40B4-BE49-F238E27FC236}">
                <a16:creationId xmlns:a16="http://schemas.microsoft.com/office/drawing/2014/main" id="{5E986CF6-8830-4A61-9A20-D44E97949291}"/>
              </a:ext>
            </a:extLst>
          </p:cNvPr>
          <p:cNvSpPr>
            <a:spLocks xmlns:a="http://schemas.openxmlformats.org/drawingml/2006/main" noGrp="1"/>
          </p:cNvSpPr>
          <p:nvPr/>
        </p:nvSpPr>
        <p:spPr>
          <a:xfrm xmlns:a="http://schemas.openxmlformats.org/drawingml/2006/main">
            <a:off x="10172700" y="4895850"/>
            <a:ext cx="609600" cy="609600"/>
          </a:xfrm>
          <a:prstGeom xmlns:a="http://schemas.openxmlformats.org/drawingml/2006/main" prst="ellipse">
            <a:avLst/>
          </a:prstGeom>
          <a:solidFill xmlns:a="http://schemas.openxmlformats.org/drawingml/2006/main">
            <a:srgbClr val="00798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6FC327C1-2D3E-45E1-A1A9-F874BB46FECB}"/>
              </a:ext>
            </a:extLst>
          </p:cNvPr>
          <p:cNvSpPr>
            <a:spLocks xmlns:a="http://schemas.openxmlformats.org/drawingml/2006/main" noGrp="1"/>
          </p:cNvSpPr>
          <p:nvPr/>
        </p:nvSpPr>
        <p:spPr>
          <a:xfrm xmlns:a="http://schemas.openxmlformats.org/drawingml/2006/main">
            <a:off x="10306050" y="4953000"/>
            <a:ext cx="3429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3150" b="1">
                <a:solidFill>
                  <a:srgbClr val="FFFFFF"/>
                </a:solidFill>
                <a:latin typeface="Aptos"/>
                <a:ea typeface="Aptos"/>
                <a:cs typeface="Aptos"/>
              </a:defRPr>
            </a:pPr>
            <a:r>
              <a:rPr sz="3150" b="1">
                <a:solidFill>
                  <a:srgbClr val="FFFFFF"/>
                </a:solidFill>
                <a:latin typeface="Aptos"/>
                <a:ea typeface="Aptos"/>
                <a:cs typeface="Aptos"/>
              </a:rPr>
              <a:t>✓</a:t>
            </a:r>
          </a:p>
        </p:txBody>
      </p:sp>
    </p:spTree>
    <p:extLst>
      <p:ext uri="{BB962C8B-B14F-4D97-AF65-F5344CB8AC3E}">
        <p14:creationId xmlns:p14="http://schemas.microsoft.com/office/powerpoint/2010/main" val="21442034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2026-05-31T21:46:29.2620000Z</dcterms:created>
  <dcterms:modified xsi:type="dcterms:W3CDTF">2026-05-31T21:46:29.2620000Z</dcterms:modified>
</coreProperties>
</file>